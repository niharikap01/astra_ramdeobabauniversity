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080d2c89d94f6b" /><Relationship Type="http://schemas.openxmlformats.org/officeDocument/2006/relationships/extended-properties" Target="/docProps/app.xml" Id="R972d8b5bb8d7477d" /><Relationship Type="http://schemas.openxmlformats.org/officeDocument/2006/relationships/officeDocument" Target="/ppt/presentation.xml" Id="Ra383bf7551fa4a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a5414e884f4163"/>
  </p:sldMasterIdLst>
  <p:notesMasterIdLst>
    <p:notesMasterId xmlns:r="http://schemas.openxmlformats.org/officeDocument/2006/relationships" r:id="R9894b4df39b24114"/>
  </p:notesMasterIdLst>
  <p:sldIdLst>
    <p:sldId xmlns:r="http://schemas.openxmlformats.org/officeDocument/2006/relationships" id="256" r:id="R7d6b1e787bd0423e"/>
    <p:sldId xmlns:r="http://schemas.openxmlformats.org/officeDocument/2006/relationships" id="257" r:id="Rf41f6ffa44bc400c"/>
    <p:sldId xmlns:r="http://schemas.openxmlformats.org/officeDocument/2006/relationships" id="258" r:id="R643c30fcd8804d64"/>
    <p:sldId xmlns:r="http://schemas.openxmlformats.org/officeDocument/2006/relationships" id="259" r:id="Ref61af3d58f14208"/>
    <p:sldId xmlns:r="http://schemas.openxmlformats.org/officeDocument/2006/relationships" id="260" r:id="R03a2a36d533e41c8"/>
    <p:sldId xmlns:r="http://schemas.openxmlformats.org/officeDocument/2006/relationships" id="261" r:id="R8e93117704284361"/>
    <p:sldId xmlns:r="http://schemas.openxmlformats.org/officeDocument/2006/relationships" id="262" r:id="R405b3ebf18b8429f"/>
    <p:sldId xmlns:r="http://schemas.openxmlformats.org/officeDocument/2006/relationships" id="263" r:id="R42ccd01e10c341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df7c1cee4442a6" /><Relationship Type="http://schemas.openxmlformats.org/officeDocument/2006/relationships/slideMaster" Target="/ppt/slideMasters/slideMaster1.xml" Id="Rd5a5414e884f4163" /><Relationship Type="http://schemas.openxmlformats.org/officeDocument/2006/relationships/notesMaster" Target="/ppt/notesMasters/notesMaster1.xml" Id="R9894b4df39b24114" /><Relationship Type="http://schemas.openxmlformats.org/officeDocument/2006/relationships/presProps" Target="/ppt/presProps.xml" Id="R04a5ff9551df4cbe" /><Relationship Type="http://schemas.openxmlformats.org/officeDocument/2006/relationships/tableStyles" Target="/ppt/tableStyles.xml" Id="Rf95329cd71854b05" /><Relationship Type="http://schemas.openxmlformats.org/officeDocument/2006/relationships/slide" Target="/ppt/slides/slide1.xml" Id="R7d6b1e787bd0423e" /><Relationship Type="http://schemas.openxmlformats.org/officeDocument/2006/relationships/slide" Target="/ppt/slides/slide2.xml" Id="Rf41f6ffa44bc400c" /><Relationship Type="http://schemas.openxmlformats.org/officeDocument/2006/relationships/slide" Target="/ppt/slides/slide3.xml" Id="R643c30fcd8804d64" /><Relationship Type="http://schemas.openxmlformats.org/officeDocument/2006/relationships/slide" Target="/ppt/slides/slide4.xml" Id="Ref61af3d58f14208" /><Relationship Type="http://schemas.openxmlformats.org/officeDocument/2006/relationships/slide" Target="/ppt/slides/slide5.xml" Id="R03a2a36d533e41c8" /><Relationship Type="http://schemas.openxmlformats.org/officeDocument/2006/relationships/slide" Target="/ppt/slides/slide6.xml" Id="R8e93117704284361" /><Relationship Type="http://schemas.openxmlformats.org/officeDocument/2006/relationships/slide" Target="/ppt/slides/slide7.xml" Id="R405b3ebf18b8429f" /><Relationship Type="http://schemas.openxmlformats.org/officeDocument/2006/relationships/slide" Target="/ppt/slides/slide8.xml" Id="R42ccd01e10c341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55127124634e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5f67fc2e21467c" /><Relationship Type="http://schemas.openxmlformats.org/officeDocument/2006/relationships/notesMaster" Target="/ppt/notesMasters/notesMaster1.xml" Id="Rc6aca7d309f94d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bae1d683a5476d" /><Relationship Type="http://schemas.openxmlformats.org/officeDocument/2006/relationships/notesMaster" Target="/ppt/notesMasters/notesMaster1.xml" Id="R552086d3dd6242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4368cfdfaa4b3f" /><Relationship Type="http://schemas.openxmlformats.org/officeDocument/2006/relationships/notesMaster" Target="/ppt/notesMasters/notesMaster1.xml" Id="R68835fed095d46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54b29a7dc74358" /><Relationship Type="http://schemas.openxmlformats.org/officeDocument/2006/relationships/notesMaster" Target="/ppt/notesMasters/notesMaster1.xml" Id="R4b6335cc84554c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300faeef1a4f8f" /><Relationship Type="http://schemas.openxmlformats.org/officeDocument/2006/relationships/notesMaster" Target="/ppt/notesMasters/notesMaster1.xml" Id="R25558d94634741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c028933ddf4714" /><Relationship Type="http://schemas.openxmlformats.org/officeDocument/2006/relationships/notesMaster" Target="/ppt/notesMasters/notesMaster1.xml" Id="R34a7255cf32b49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6babb88efb4e43" /><Relationship Type="http://schemas.openxmlformats.org/officeDocument/2006/relationships/notesMaster" Target="/ppt/notesMasters/notesMaster1.xml" Id="Rf7b1cfad6eea4c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87792a28d944eb" /><Relationship Type="http://schemas.openxmlformats.org/officeDocument/2006/relationships/notesMaster" Target="/ppt/notesMasters/notesMaster1.xml" Id="Rf00fd5b7062840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docs/model_card.md. All patient records and outcomes shown by NightWatch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docs/data_dictionary.md. All patient records and outcomes shown by NightWatch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data/README.md; docs/data_dictionary.md. All patient records and outcomes shown by NightWatch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User-provided clinician dashboard screenshot; README.md. All patient records and outcomes shown by NightWatch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ml/artifacts/metrics.json; docs/evaluation_report.md; docs/model_card.md. All patient records and outcomes shown by NightWatch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ml/artifacts/metrics.json; ml/artifacts/thresholds.json; docs/evaluation_report.md. All patient records and outcomes shown by NightWatch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ml/artifacts/metrics.json; docs/evaluation_report.md. All patient records and outcomes shown by NightWatch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docs/model_card.md; docs/model_card.md. All patient records and outcomes shown by NightWatch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145b06d4e340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f033ac1c0d42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9d3b6528be42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17a4c754ea41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fb0db5e8dd4c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59b52dc5554c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C39464-B51A-4F9D-BAF4-68688756B8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57FEE7-F316-4F8F-851A-55FB16199B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5CC66A-6086-4829-AE28-BAAC6905C1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10A15B-96C5-4A29-8720-7612C637E2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2F813BC-C7C5-4BBA-B1EF-810495DEF1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7F6A59-ED42-4B9F-BD9A-8A5BA83B8A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079C44-21C9-4FA9-9E67-97ED1F1651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61FA5F9-8F05-454A-AFC0-D5E5E66A72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353049-03DB-48A8-8927-F7F540912A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F33773-FD57-4F2F-8F18-A81BF50D07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669bee9e2e4c54" /><Relationship Type="http://schemas.openxmlformats.org/officeDocument/2006/relationships/slideLayout" Target="/ppt/slideLayouts/slideLayout1.xml" Id="Ra04766da0b88449d" /><Relationship Type="http://schemas.openxmlformats.org/officeDocument/2006/relationships/slideLayout" Target="/ppt/slideLayouts/slideLayout2.xml" Id="R1ce88288fb034059" /><Relationship Type="http://schemas.openxmlformats.org/officeDocument/2006/relationships/slideLayout" Target="/ppt/slideLayouts/slideLayout3.xml" Id="R8666d1075fac45a4" /><Relationship Type="http://schemas.openxmlformats.org/officeDocument/2006/relationships/slideLayout" Target="/ppt/slideLayouts/slideLayout4.xml" Id="R72f3555926a24aab" /><Relationship Type="http://schemas.openxmlformats.org/officeDocument/2006/relationships/slideLayout" Target="/ppt/slideLayouts/slideLayout5.xml" Id="R6e02189c7d4341e4" /><Relationship Type="http://schemas.openxmlformats.org/officeDocument/2006/relationships/slideLayout" Target="/ppt/slideLayouts/slideLayout6.xml" Id="R5de25081070243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4766da0b88449d"/>
    <p:sldLayoutId xmlns:r="http://schemas.openxmlformats.org/officeDocument/2006/relationships" id="2147483650" r:id="R1ce88288fb034059"/>
    <p:sldLayoutId xmlns:r="http://schemas.openxmlformats.org/officeDocument/2006/relationships" id="2147483651" r:id="R8666d1075fac45a4"/>
    <p:sldLayoutId xmlns:r="http://schemas.openxmlformats.org/officeDocument/2006/relationships" id="2147483652" r:id="R72f3555926a24aab"/>
    <p:sldLayoutId xmlns:r="http://schemas.openxmlformats.org/officeDocument/2006/relationships" id="2147483653" r:id="R6e02189c7d4341e4"/>
    <p:sldLayoutId xmlns:r="http://schemas.openxmlformats.org/officeDocument/2006/relationships" id="2147483654" r:id="R5de25081070243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d20cfe872e489c" /><Relationship Type="http://schemas.openxmlformats.org/officeDocument/2006/relationships/notesSlide" Target="/ppt/notesSlides/notesSlide1.xml" Id="R0e13ca45e2fd40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97c788104c4278" /><Relationship Type="http://schemas.openxmlformats.org/officeDocument/2006/relationships/notesSlide" Target="/ppt/notesSlides/notesSlide2.xml" Id="R2686117483c846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fca8006fea4287" /><Relationship Type="http://schemas.openxmlformats.org/officeDocument/2006/relationships/notesSlide" Target="/ppt/notesSlides/notesSlide3.xml" Id="R3d8b2dc8261847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bc9fee17044036" /><Relationship Type="http://schemas.openxmlformats.org/officeDocument/2006/relationships/image" Target="/ppt/media/image.png" Id="Ra64d086063844664" /><Relationship Type="http://schemas.openxmlformats.org/officeDocument/2006/relationships/notesSlide" Target="/ppt/notesSlides/notesSlide4.xml" Id="Re1ac102e3d554b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a534381d544e57" /><Relationship Type="http://schemas.openxmlformats.org/officeDocument/2006/relationships/notesSlide" Target="/ppt/notesSlides/notesSlide5.xml" Id="Rd00f2d690c0e4d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fe00f6c4914202" /><Relationship Type="http://schemas.openxmlformats.org/officeDocument/2006/relationships/notesSlide" Target="/ppt/notesSlides/notesSlide6.xml" Id="Rfce0c42bc7634d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c3e28c59b64c1c" /><Relationship Type="http://schemas.openxmlformats.org/officeDocument/2006/relationships/notesSlide" Target="/ppt/notesSlides/notesSlide7.xml" Id="R97425f3837ef47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5556f143234fee" /><Relationship Type="http://schemas.openxmlformats.org/officeDocument/2006/relationships/notesSlide" Target="/ppt/notesSlides/notesSlide8.xml" Id="R64ca72c61d8c4f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5136244D-F35C-4B17-BB8B-AB3C0B6C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BC8E8"/>
                </a:solidFill>
              </a:defRPr>
            </a:defPPr>
            <a:lvl1pPr>
              <a:defRPr sz="1350" b="1">
                <a:solidFill>
                  <a:srgbClr val="2BC8E8"/>
                </a:solidFill>
              </a:defRPr>
            </a:lvl1pPr>
            <a:lvl2pPr>
              <a:defRPr sz="1350" b="1">
                <a:solidFill>
                  <a:srgbClr val="2BC8E8"/>
                </a:solidFill>
              </a:defRPr>
            </a:lvl2pPr>
            <a:lvl3pPr>
              <a:defRPr sz="1350" b="1">
                <a:solidFill>
                  <a:srgbClr val="2BC8E8"/>
                </a:solidFill>
              </a:defRPr>
            </a:lvl3pPr>
            <a:lvl4pPr>
              <a:defRPr sz="1350" b="1">
                <a:solidFill>
                  <a:srgbClr val="2BC8E8"/>
                </a:solidFill>
              </a:defRPr>
            </a:lvl4pPr>
            <a:lvl5pPr>
              <a:defRPr sz="1350" b="1">
                <a:solidFill>
                  <a:srgbClr val="2BC8E8"/>
                </a:solidFill>
              </a:defRPr>
            </a:lvl5pPr>
            <a:lvl6pPr>
              <a:defRPr sz="1350" b="1">
                <a:solidFill>
                  <a:srgbClr val="2BC8E8"/>
                </a:solidFill>
              </a:defRPr>
            </a:lvl6pPr>
            <a:lvl7pPr>
              <a:defRPr sz="1350" b="1">
                <a:solidFill>
                  <a:srgbClr val="2BC8E8"/>
                </a:solidFill>
              </a:defRPr>
            </a:lvl7pPr>
            <a:lvl8pPr>
              <a:defRPr sz="1350" b="1">
                <a:solidFill>
                  <a:srgbClr val="2BC8E8"/>
                </a:solidFill>
              </a:defRPr>
            </a:lvl8pPr>
            <a:lvl9pPr>
              <a:defRPr sz="1350" b="1">
                <a:solidFill>
                  <a:srgbClr val="2BC8E8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BC8E8"/>
                </a:solidFill>
              </a:defRPr>
            </a:pPr>
            <a:r>
              <a:rPr sz="1350" b="1">
                <a:solidFill>
                  <a:srgbClr val="2BC8E8"/>
                </a:solidFill>
              </a:rPr>
              <a:t>SLEEP-AWARE DIGITAL TWIN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6348AAE-DC1E-42EF-90D5-E561298A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F5F7FB"/>
                </a:solidFill>
              </a:defRPr>
            </a:defPPr>
            <a:lvl1pPr>
              <a:defRPr sz="4500" b="1">
                <a:solidFill>
                  <a:srgbClr val="F5F7FB"/>
                </a:solidFill>
              </a:defRPr>
            </a:lvl1pPr>
            <a:lvl2pPr>
              <a:defRPr sz="4500" b="1">
                <a:solidFill>
                  <a:srgbClr val="F5F7FB"/>
                </a:solidFill>
              </a:defRPr>
            </a:lvl2pPr>
            <a:lvl3pPr>
              <a:defRPr sz="4500" b="1">
                <a:solidFill>
                  <a:srgbClr val="F5F7FB"/>
                </a:solidFill>
              </a:defRPr>
            </a:lvl3pPr>
            <a:lvl4pPr>
              <a:defRPr sz="4500" b="1">
                <a:solidFill>
                  <a:srgbClr val="F5F7FB"/>
                </a:solidFill>
              </a:defRPr>
            </a:lvl4pPr>
            <a:lvl5pPr>
              <a:defRPr sz="4500" b="1">
                <a:solidFill>
                  <a:srgbClr val="F5F7FB"/>
                </a:solidFill>
              </a:defRPr>
            </a:lvl5pPr>
            <a:lvl6pPr>
              <a:defRPr sz="4500" b="1">
                <a:solidFill>
                  <a:srgbClr val="F5F7FB"/>
                </a:solidFill>
              </a:defRPr>
            </a:lvl6pPr>
            <a:lvl7pPr>
              <a:defRPr sz="4500" b="1">
                <a:solidFill>
                  <a:srgbClr val="F5F7FB"/>
                </a:solidFill>
              </a:defRPr>
            </a:lvl7pPr>
            <a:lvl8pPr>
              <a:defRPr sz="4500" b="1">
                <a:solidFill>
                  <a:srgbClr val="F5F7FB"/>
                </a:solidFill>
              </a:defRPr>
            </a:lvl8pPr>
            <a:lvl9pPr>
              <a:defRPr sz="4500" b="1">
                <a:solidFill>
                  <a:srgbClr val="F5F7FB"/>
                </a:solidFill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F5F7FB"/>
                </a:solidFill>
              </a:defRPr>
            </a:pPr>
            <a:r>
              <a:rPr sz="4500" b="1">
                <a:solidFill>
                  <a:srgbClr val="F5F7FB"/>
                </a:solidFill>
              </a:rPr>
              <a:t>NightWatch</a:t>
            </a:r>
          </a:p>
        </p:txBody>
      </p:sp>
      <p:sp>
        <p:nvSpPr>
          <p:cNvPr id="3" name="Tagline">
            <a:extLst xmlns:a="http://schemas.openxmlformats.org/drawingml/2006/main">
              <a:ext uri="{FF2B5EF4-FFF2-40B4-BE49-F238E27FC236}">
                <a16:creationId xmlns:a16="http://schemas.microsoft.com/office/drawing/2014/main" id="{088BDBE3-1AA7-401E-9AD8-2EE84CD4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A8BDD7"/>
                </a:solidFill>
              </a:defRPr>
            </a:defPPr>
            <a:lvl1pPr>
              <a:defRPr sz="2400" b="0">
                <a:solidFill>
                  <a:srgbClr val="A8BDD7"/>
                </a:solidFill>
              </a:defRPr>
            </a:lvl1pPr>
            <a:lvl2pPr>
              <a:defRPr sz="2400" b="0">
                <a:solidFill>
                  <a:srgbClr val="A8BDD7"/>
                </a:solidFill>
              </a:defRPr>
            </a:lvl2pPr>
            <a:lvl3pPr>
              <a:defRPr sz="2400" b="0">
                <a:solidFill>
                  <a:srgbClr val="A8BDD7"/>
                </a:solidFill>
              </a:defRPr>
            </a:lvl3pPr>
            <a:lvl4pPr>
              <a:defRPr sz="2400" b="0">
                <a:solidFill>
                  <a:srgbClr val="A8BDD7"/>
                </a:solidFill>
              </a:defRPr>
            </a:lvl4pPr>
            <a:lvl5pPr>
              <a:defRPr sz="2400" b="0">
                <a:solidFill>
                  <a:srgbClr val="A8BDD7"/>
                </a:solidFill>
              </a:defRPr>
            </a:lvl5pPr>
            <a:lvl6pPr>
              <a:defRPr sz="2400" b="0">
                <a:solidFill>
                  <a:srgbClr val="A8BDD7"/>
                </a:solidFill>
              </a:defRPr>
            </a:lvl6pPr>
            <a:lvl7pPr>
              <a:defRPr sz="2400" b="0">
                <a:solidFill>
                  <a:srgbClr val="A8BDD7"/>
                </a:solidFill>
              </a:defRPr>
            </a:lvl7pPr>
            <a:lvl8pPr>
              <a:defRPr sz="2400" b="0">
                <a:solidFill>
                  <a:srgbClr val="A8BDD7"/>
                </a:solidFill>
              </a:defRPr>
            </a:lvl8pPr>
            <a:lvl9pPr>
              <a:defRPr sz="2400" b="0">
                <a:solidFill>
                  <a:srgbClr val="A8BDD7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A8BDD7"/>
                </a:solidFill>
              </a:defRPr>
            </a:pPr>
            <a:r>
              <a:rPr sz="2400" b="0">
                <a:solidFill>
                  <a:srgbClr val="A8BDD7"/>
                </a:solidFill>
              </a:rPr>
              <a:t>Modeled next-24-hour hypertension episode risk for clinician review</a:t>
            </a:r>
          </a:p>
        </p:txBody>
      </p:sp>
      <p:sp>
        <p:nvSpPr>
          <p:cNvPr id="4" name="Prototype label">
            <a:extLst xmlns:a="http://schemas.openxmlformats.org/drawingml/2006/main">
              <a:ext uri="{FF2B5EF4-FFF2-40B4-BE49-F238E27FC236}">
                <a16:creationId xmlns:a16="http://schemas.microsoft.com/office/drawing/2014/main" id="{B7F51E86-A3A1-4830-A1FE-51A11D11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BC79FF"/>
                </a:solidFill>
              </a:defRPr>
            </a:defPPr>
            <a:lvl1pPr>
              <a:defRPr sz="1800" b="1">
                <a:solidFill>
                  <a:srgbClr val="BC79FF"/>
                </a:solidFill>
              </a:defRPr>
            </a:lvl1pPr>
            <a:lvl2pPr>
              <a:defRPr sz="1800" b="1">
                <a:solidFill>
                  <a:srgbClr val="BC79FF"/>
                </a:solidFill>
              </a:defRPr>
            </a:lvl2pPr>
            <a:lvl3pPr>
              <a:defRPr sz="1800" b="1">
                <a:solidFill>
                  <a:srgbClr val="BC79FF"/>
                </a:solidFill>
              </a:defRPr>
            </a:lvl3pPr>
            <a:lvl4pPr>
              <a:defRPr sz="1800" b="1">
                <a:solidFill>
                  <a:srgbClr val="BC79FF"/>
                </a:solidFill>
              </a:defRPr>
            </a:lvl4pPr>
            <a:lvl5pPr>
              <a:defRPr sz="1800" b="1">
                <a:solidFill>
                  <a:srgbClr val="BC79FF"/>
                </a:solidFill>
              </a:defRPr>
            </a:lvl5pPr>
            <a:lvl6pPr>
              <a:defRPr sz="1800" b="1">
                <a:solidFill>
                  <a:srgbClr val="BC79FF"/>
                </a:solidFill>
              </a:defRPr>
            </a:lvl6pPr>
            <a:lvl7pPr>
              <a:defRPr sz="1800" b="1">
                <a:solidFill>
                  <a:srgbClr val="BC79FF"/>
                </a:solidFill>
              </a:defRPr>
            </a:lvl7pPr>
            <a:lvl8pPr>
              <a:defRPr sz="1800" b="1">
                <a:solidFill>
                  <a:srgbClr val="BC79FF"/>
                </a:solidFill>
              </a:defRPr>
            </a:lvl8pPr>
            <a:lvl9pPr>
              <a:defRPr sz="1800" b="1">
                <a:solidFill>
                  <a:srgbClr val="BC79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BC79FF"/>
                </a:solidFill>
              </a:defRPr>
            </a:pPr>
            <a:r>
              <a:rPr sz="1800" b="1">
                <a:solidFill>
                  <a:srgbClr val="BC79FF"/>
                </a:solidFill>
              </a:rPr>
              <a:t>Synthetic-data research prototype for decision support</a:t>
            </a:r>
          </a:p>
        </p:txBody>
      </p:sp>
      <p:sp>
        <p:nvSpPr>
          <p:cNvPr id="5" name="Safety statement">
            <a:extLst xmlns:a="http://schemas.openxmlformats.org/drawingml/2006/main">
              <a:ext uri="{FF2B5EF4-FFF2-40B4-BE49-F238E27FC236}">
                <a16:creationId xmlns:a16="http://schemas.microsoft.com/office/drawing/2014/main" id="{35693BBE-D1B8-4D1A-8608-FB8DE2B4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B84A"/>
                </a:solidFill>
              </a:defRPr>
            </a:defPPr>
            <a:lvl1pPr>
              <a:defRPr sz="1500" b="0">
                <a:solidFill>
                  <a:srgbClr val="FFB84A"/>
                </a:solidFill>
              </a:defRPr>
            </a:lvl1pPr>
            <a:lvl2pPr>
              <a:defRPr sz="1500" b="0">
                <a:solidFill>
                  <a:srgbClr val="FFB84A"/>
                </a:solidFill>
              </a:defRPr>
            </a:lvl2pPr>
            <a:lvl3pPr>
              <a:defRPr sz="1500" b="0">
                <a:solidFill>
                  <a:srgbClr val="FFB84A"/>
                </a:solidFill>
              </a:defRPr>
            </a:lvl3pPr>
            <a:lvl4pPr>
              <a:defRPr sz="1500" b="0">
                <a:solidFill>
                  <a:srgbClr val="FFB84A"/>
                </a:solidFill>
              </a:defRPr>
            </a:lvl4pPr>
            <a:lvl5pPr>
              <a:defRPr sz="1500" b="0">
                <a:solidFill>
                  <a:srgbClr val="FFB84A"/>
                </a:solidFill>
              </a:defRPr>
            </a:lvl5pPr>
            <a:lvl6pPr>
              <a:defRPr sz="1500" b="0">
                <a:solidFill>
                  <a:srgbClr val="FFB84A"/>
                </a:solidFill>
              </a:defRPr>
            </a:lvl6pPr>
            <a:lvl7pPr>
              <a:defRPr sz="1500" b="0">
                <a:solidFill>
                  <a:srgbClr val="FFB84A"/>
                </a:solidFill>
              </a:defRPr>
            </a:lvl7pPr>
            <a:lvl8pPr>
              <a:defRPr sz="1500" b="0">
                <a:solidFill>
                  <a:srgbClr val="FFB84A"/>
                </a:solidFill>
              </a:defRPr>
            </a:lvl8pPr>
            <a:lvl9pPr>
              <a:defRPr sz="1500" b="0">
                <a:solidFill>
                  <a:srgbClr val="FFB84A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B84A"/>
                </a:solidFill>
              </a:defRPr>
            </a:pPr>
            <a:r>
              <a:rPr sz="1500" b="0">
                <a:solidFill>
                  <a:srgbClr val="FFB84A"/>
                </a:solidFill>
              </a:rPr>
              <a:t>Home cuff readings define the target. Wearables provide context only. This is not a diagnosis or treatment recommendation.</a:t>
            </a:r>
          </a:p>
        </p:txBody>
      </p:sp>
      <p:sp>
        <p:nvSpPr>
          <p:cNvPr id="6" name="Institution">
            <a:extLst xmlns:a="http://schemas.openxmlformats.org/drawingml/2006/main">
              <a:ext uri="{FF2B5EF4-FFF2-40B4-BE49-F238E27FC236}">
                <a16:creationId xmlns:a16="http://schemas.microsoft.com/office/drawing/2014/main" id="{198C8BC1-215B-4A06-B0F2-F28F2EF6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43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8BDD7"/>
                </a:solidFill>
              </a:defRPr>
            </a:defPPr>
            <a:lvl1pPr>
              <a:defRPr sz="1050" b="0">
                <a:solidFill>
                  <a:srgbClr val="A8BDD7"/>
                </a:solidFill>
              </a:defRPr>
            </a:lvl1pPr>
            <a:lvl2pPr>
              <a:defRPr sz="1050" b="0">
                <a:solidFill>
                  <a:srgbClr val="A8BDD7"/>
                </a:solidFill>
              </a:defRPr>
            </a:lvl2pPr>
            <a:lvl3pPr>
              <a:defRPr sz="1050" b="0">
                <a:solidFill>
                  <a:srgbClr val="A8BDD7"/>
                </a:solidFill>
              </a:defRPr>
            </a:lvl3pPr>
            <a:lvl4pPr>
              <a:defRPr sz="1050" b="0">
                <a:solidFill>
                  <a:srgbClr val="A8BDD7"/>
                </a:solidFill>
              </a:defRPr>
            </a:lvl4pPr>
            <a:lvl5pPr>
              <a:defRPr sz="1050" b="0">
                <a:solidFill>
                  <a:srgbClr val="A8BDD7"/>
                </a:solidFill>
              </a:defRPr>
            </a:lvl5pPr>
            <a:lvl6pPr>
              <a:defRPr sz="1050" b="0">
                <a:solidFill>
                  <a:srgbClr val="A8BDD7"/>
                </a:solidFill>
              </a:defRPr>
            </a:lvl6pPr>
            <a:lvl7pPr>
              <a:defRPr sz="1050" b="0">
                <a:solidFill>
                  <a:srgbClr val="A8BDD7"/>
                </a:solidFill>
              </a:defRPr>
            </a:lvl7pPr>
            <a:lvl8pPr>
              <a:defRPr sz="1050" b="0">
                <a:solidFill>
                  <a:srgbClr val="A8BDD7"/>
                </a:solidFill>
              </a:defRPr>
            </a:lvl8pPr>
            <a:lvl9pPr>
              <a:defRPr sz="1050" b="0">
                <a:solidFill>
                  <a:srgbClr val="A8BDD7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8BDD7"/>
                </a:solidFill>
              </a:defRPr>
            </a:pPr>
            <a:r>
              <a:rPr sz="1050" b="0">
                <a:solidFill>
                  <a:srgbClr val="A8BDD7"/>
                </a:solidFill>
              </a:rPr>
              <a:t>Ramdeobaba University, Nagpur  |  Team details to be completed by the team</a:t>
            </a:r>
          </a:p>
        </p:txBody>
      </p:sp>
    </p:spTree>
    <p:extLst>
      <p:ext uri="{BB962C8B-B14F-4D97-AF65-F5344CB8AC3E}">
        <p14:creationId xmlns:p14="http://schemas.microsoft.com/office/powerpoint/2010/main" val="6072986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590CE554-08A6-4DA1-B9D4-3B460B0E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BC8E8"/>
                </a:solidFill>
              </a:defRPr>
            </a:defPPr>
            <a:lvl1pPr>
              <a:defRPr sz="1200" b="1">
                <a:solidFill>
                  <a:srgbClr val="2BC8E8"/>
                </a:solidFill>
              </a:defRPr>
            </a:lvl1pPr>
            <a:lvl2pPr>
              <a:defRPr sz="1200" b="1">
                <a:solidFill>
                  <a:srgbClr val="2BC8E8"/>
                </a:solidFill>
              </a:defRPr>
            </a:lvl2pPr>
            <a:lvl3pPr>
              <a:defRPr sz="1200" b="1">
                <a:solidFill>
                  <a:srgbClr val="2BC8E8"/>
                </a:solidFill>
              </a:defRPr>
            </a:lvl3pPr>
            <a:lvl4pPr>
              <a:defRPr sz="1200" b="1">
                <a:solidFill>
                  <a:srgbClr val="2BC8E8"/>
                </a:solidFill>
              </a:defRPr>
            </a:lvl4pPr>
            <a:lvl5pPr>
              <a:defRPr sz="1200" b="1">
                <a:solidFill>
                  <a:srgbClr val="2BC8E8"/>
                </a:solidFill>
              </a:defRPr>
            </a:lvl5pPr>
            <a:lvl6pPr>
              <a:defRPr sz="1200" b="1">
                <a:solidFill>
                  <a:srgbClr val="2BC8E8"/>
                </a:solidFill>
              </a:defRPr>
            </a:lvl6pPr>
            <a:lvl7pPr>
              <a:defRPr sz="1200" b="1">
                <a:solidFill>
                  <a:srgbClr val="2BC8E8"/>
                </a:solidFill>
              </a:defRPr>
            </a:lvl7pPr>
            <a:lvl8pPr>
              <a:defRPr sz="1200" b="1">
                <a:solidFill>
                  <a:srgbClr val="2BC8E8"/>
                </a:solidFill>
              </a:defRPr>
            </a:lvl8pPr>
            <a:lvl9pPr>
              <a:defRPr sz="1200" b="1">
                <a:solidFill>
                  <a:srgbClr val="2BC8E8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BC8E8"/>
                </a:solidFill>
              </a:defRPr>
            </a:pPr>
            <a:r>
              <a:rPr sz="1200" b="1">
                <a:solidFill>
                  <a:srgbClr val="2BC8E8"/>
                </a:solidFill>
              </a:rPr>
              <a:t>01  /  PROBLEM AND USE CASE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231917E-23DD-4672-8BE3-4343F393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5F7FB"/>
                </a:solidFill>
              </a:defRPr>
            </a:defPPr>
            <a:lvl1pPr>
              <a:defRPr sz="2550" b="1">
                <a:solidFill>
                  <a:srgbClr val="F5F7FB"/>
                </a:solidFill>
              </a:defRPr>
            </a:lvl1pPr>
            <a:lvl2pPr>
              <a:defRPr sz="2550" b="1">
                <a:solidFill>
                  <a:srgbClr val="F5F7FB"/>
                </a:solidFill>
              </a:defRPr>
            </a:lvl2pPr>
            <a:lvl3pPr>
              <a:defRPr sz="2550" b="1">
                <a:solidFill>
                  <a:srgbClr val="F5F7FB"/>
                </a:solidFill>
              </a:defRPr>
            </a:lvl3pPr>
            <a:lvl4pPr>
              <a:defRPr sz="2550" b="1">
                <a:solidFill>
                  <a:srgbClr val="F5F7FB"/>
                </a:solidFill>
              </a:defRPr>
            </a:lvl4pPr>
            <a:lvl5pPr>
              <a:defRPr sz="2550" b="1">
                <a:solidFill>
                  <a:srgbClr val="F5F7FB"/>
                </a:solidFill>
              </a:defRPr>
            </a:lvl5pPr>
            <a:lvl6pPr>
              <a:defRPr sz="2550" b="1">
                <a:solidFill>
                  <a:srgbClr val="F5F7FB"/>
                </a:solidFill>
              </a:defRPr>
            </a:lvl6pPr>
            <a:lvl7pPr>
              <a:defRPr sz="2550" b="1">
                <a:solidFill>
                  <a:srgbClr val="F5F7FB"/>
                </a:solidFill>
              </a:defRPr>
            </a:lvl7pPr>
            <a:lvl8pPr>
              <a:defRPr sz="2550" b="1">
                <a:solidFill>
                  <a:srgbClr val="F5F7FB"/>
                </a:solidFill>
              </a:defRPr>
            </a:lvl8pPr>
            <a:lvl9pPr>
              <a:defRPr sz="2550" b="1">
                <a:solidFill>
                  <a:srgbClr val="F5F7FB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7FB"/>
                </a:solidFill>
              </a:defRPr>
            </a:pPr>
            <a:r>
              <a:rPr sz="2550" b="1">
                <a:solidFill>
                  <a:srgbClr val="F5F7FB"/>
                </a:solidFill>
              </a:rPr>
              <a:t>Clinical use case</a:t>
            </a:r>
          </a:p>
        </p:txBody>
      </p:sp>
      <p:sp>
        <p:nvSpPr>
          <p:cNvPr id="3" name="Safety footer">
            <a:extLst xmlns:a="http://schemas.openxmlformats.org/drawingml/2006/main">
              <a:ext uri="{FF2B5EF4-FFF2-40B4-BE49-F238E27FC236}">
                <a16:creationId xmlns:a16="http://schemas.microsoft.com/office/drawing/2014/main" id="{BAA2EE9E-8AA8-4F04-9729-7D5496F8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8BDD7"/>
                </a:solidFill>
              </a:defRPr>
            </a:defPPr>
            <a:lvl1pPr>
              <a:defRPr sz="900" b="0">
                <a:solidFill>
                  <a:srgbClr val="A8BDD7"/>
                </a:solidFill>
              </a:defRPr>
            </a:lvl1pPr>
            <a:lvl2pPr>
              <a:defRPr sz="900" b="0">
                <a:solidFill>
                  <a:srgbClr val="A8BDD7"/>
                </a:solidFill>
              </a:defRPr>
            </a:lvl2pPr>
            <a:lvl3pPr>
              <a:defRPr sz="900" b="0">
                <a:solidFill>
                  <a:srgbClr val="A8BDD7"/>
                </a:solidFill>
              </a:defRPr>
            </a:lvl3pPr>
            <a:lvl4pPr>
              <a:defRPr sz="900" b="0">
                <a:solidFill>
                  <a:srgbClr val="A8BDD7"/>
                </a:solidFill>
              </a:defRPr>
            </a:lvl4pPr>
            <a:lvl5pPr>
              <a:defRPr sz="900" b="0">
                <a:solidFill>
                  <a:srgbClr val="A8BDD7"/>
                </a:solidFill>
              </a:defRPr>
            </a:lvl5pPr>
            <a:lvl6pPr>
              <a:defRPr sz="900" b="0">
                <a:solidFill>
                  <a:srgbClr val="A8BDD7"/>
                </a:solidFill>
              </a:defRPr>
            </a:lvl6pPr>
            <a:lvl7pPr>
              <a:defRPr sz="900" b="0">
                <a:solidFill>
                  <a:srgbClr val="A8BDD7"/>
                </a:solidFill>
              </a:defRPr>
            </a:lvl7pPr>
            <a:lvl8pPr>
              <a:defRPr sz="900" b="0">
                <a:solidFill>
                  <a:srgbClr val="A8BDD7"/>
                </a:solidFill>
              </a:defRPr>
            </a:lvl8pPr>
            <a:lvl9pPr>
              <a:defRPr sz="900" b="0">
                <a:solidFill>
                  <a:srgbClr val="A8BDD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A8BDD7"/>
                </a:solidFill>
              </a:defRPr>
            </a:pPr>
            <a:r>
              <a:rPr sz="900" b="0">
                <a:solidFill>
                  <a:srgbClr val="A8BDD7"/>
                </a:solidFill>
              </a:rPr>
              <a:t>NIGHTWATCH  |  SYNTHETIC DATA ONLY  |  NOT A MEDICAL DEVICE</a:t>
            </a:r>
          </a:p>
        </p:txBody>
      </p:sp>
      <p:sp>
        <p:nvSpPr>
          <p:cNvPr id="4" name="Problem statement">
            <a:extLst xmlns:a="http://schemas.openxmlformats.org/drawingml/2006/main">
              <a:ext uri="{FF2B5EF4-FFF2-40B4-BE49-F238E27FC236}">
                <a16:creationId xmlns:a16="http://schemas.microsoft.com/office/drawing/2014/main" id="{EB02D01C-F0F7-4D55-98E0-EE375B3F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5F7FB"/>
                </a:solidFill>
              </a:defRPr>
            </a:defPPr>
            <a:lvl1pPr>
              <a:defRPr sz="1950" b="0">
                <a:solidFill>
                  <a:srgbClr val="F5F7FB"/>
                </a:solidFill>
              </a:defRPr>
            </a:lvl1pPr>
            <a:lvl2pPr>
              <a:defRPr sz="1950" b="0">
                <a:solidFill>
                  <a:srgbClr val="F5F7FB"/>
                </a:solidFill>
              </a:defRPr>
            </a:lvl2pPr>
            <a:lvl3pPr>
              <a:defRPr sz="1950" b="0">
                <a:solidFill>
                  <a:srgbClr val="F5F7FB"/>
                </a:solidFill>
              </a:defRPr>
            </a:lvl3pPr>
            <a:lvl4pPr>
              <a:defRPr sz="1950" b="0">
                <a:solidFill>
                  <a:srgbClr val="F5F7FB"/>
                </a:solidFill>
              </a:defRPr>
            </a:lvl4pPr>
            <a:lvl5pPr>
              <a:defRPr sz="1950" b="0">
                <a:solidFill>
                  <a:srgbClr val="F5F7FB"/>
                </a:solidFill>
              </a:defRPr>
            </a:lvl5pPr>
            <a:lvl6pPr>
              <a:defRPr sz="1950" b="0">
                <a:solidFill>
                  <a:srgbClr val="F5F7FB"/>
                </a:solidFill>
              </a:defRPr>
            </a:lvl6pPr>
            <a:lvl7pPr>
              <a:defRPr sz="1950" b="0">
                <a:solidFill>
                  <a:srgbClr val="F5F7FB"/>
                </a:solidFill>
              </a:defRPr>
            </a:lvl7pPr>
            <a:lvl8pPr>
              <a:defRPr sz="1950" b="0">
                <a:solidFill>
                  <a:srgbClr val="F5F7FB"/>
                </a:solidFill>
              </a:defRPr>
            </a:lvl8pPr>
            <a:lvl9pPr>
              <a:defRPr sz="1950" b="0">
                <a:solidFill>
                  <a:srgbClr val="F5F7FB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5F7FB"/>
                </a:solidFill>
              </a:defRPr>
            </a:pPr>
            <a:r>
              <a:rPr sz="1950" b="0">
                <a:solidFill>
                  <a:srgbClr val="F5F7FB"/>
                </a:solidFill>
              </a:rPr>
              <a:t>Review home blood-pressure readings alongside recent synthetic EHR and wearable context when considering near-term hypertension risk.</a:t>
            </a:r>
          </a:p>
        </p:txBody>
      </p:sp>
      <p:sp>
        <p:nvSpPr>
          <p:cNvPr id="5" name="Target definition">
            <a:extLst xmlns:a="http://schemas.openxmlformats.org/drawingml/2006/main">
              <a:ext uri="{FF2B5EF4-FFF2-40B4-BE49-F238E27FC236}">
                <a16:creationId xmlns:a16="http://schemas.microsoft.com/office/drawing/2014/main" id="{243A1EB5-BE4F-40AD-8694-D029BA85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BC8E8"/>
                </a:solidFill>
              </a:defRPr>
            </a:defPPr>
            <a:lvl1pPr>
              <a:defRPr sz="1800" b="0">
                <a:solidFill>
                  <a:srgbClr val="2BC8E8"/>
                </a:solidFill>
              </a:defRPr>
            </a:lvl1pPr>
            <a:lvl2pPr>
              <a:defRPr sz="1800" b="0">
                <a:solidFill>
                  <a:srgbClr val="2BC8E8"/>
                </a:solidFill>
              </a:defRPr>
            </a:lvl2pPr>
            <a:lvl3pPr>
              <a:defRPr sz="1800" b="0">
                <a:solidFill>
                  <a:srgbClr val="2BC8E8"/>
                </a:solidFill>
              </a:defRPr>
            </a:lvl3pPr>
            <a:lvl4pPr>
              <a:defRPr sz="1800" b="0">
                <a:solidFill>
                  <a:srgbClr val="2BC8E8"/>
                </a:solidFill>
              </a:defRPr>
            </a:lvl4pPr>
            <a:lvl5pPr>
              <a:defRPr sz="1800" b="0">
                <a:solidFill>
                  <a:srgbClr val="2BC8E8"/>
                </a:solidFill>
              </a:defRPr>
            </a:lvl5pPr>
            <a:lvl6pPr>
              <a:defRPr sz="1800" b="0">
                <a:solidFill>
                  <a:srgbClr val="2BC8E8"/>
                </a:solidFill>
              </a:defRPr>
            </a:lvl6pPr>
            <a:lvl7pPr>
              <a:defRPr sz="1800" b="0">
                <a:solidFill>
                  <a:srgbClr val="2BC8E8"/>
                </a:solidFill>
              </a:defRPr>
            </a:lvl7pPr>
            <a:lvl8pPr>
              <a:defRPr sz="1800" b="0">
                <a:solidFill>
                  <a:srgbClr val="2BC8E8"/>
                </a:solidFill>
              </a:defRPr>
            </a:lvl8pPr>
            <a:lvl9pPr>
              <a:defRPr sz="1800" b="0">
                <a:solidFill>
                  <a:srgbClr val="2BC8E8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BC8E8"/>
                </a:solidFill>
              </a:defRPr>
            </a:pPr>
            <a:r>
              <a:rPr sz="1800" b="0">
                <a:solidFill>
                  <a:srgbClr val="2BC8E8"/>
                </a:solidFill>
              </a:rPr>
              <a:t>NightWatch presents a modeled estimate for a hypertensive episode in the next 24 hours. The episode label is next-day systolic BP &gt;= 140 mmHg or diastolic BP &gt;= 90 mmHg.</a:t>
            </a:r>
          </a:p>
        </p:txBody>
      </p:sp>
      <p:sp>
        <p:nvSpPr>
          <p:cNvPr id="6" name="Clinician workflow">
            <a:extLst xmlns:a="http://schemas.openxmlformats.org/drawingml/2006/main">
              <a:ext uri="{FF2B5EF4-FFF2-40B4-BE49-F238E27FC236}">
                <a16:creationId xmlns:a16="http://schemas.microsoft.com/office/drawing/2014/main" id="{D9565F8F-2192-4178-B2B5-5240E7D0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5F7FB"/>
                </a:solidFill>
              </a:defRPr>
            </a:defPPr>
            <a:lvl1pPr>
              <a:defRPr sz="1725" b="0">
                <a:solidFill>
                  <a:srgbClr val="F5F7FB"/>
                </a:solidFill>
              </a:defRPr>
            </a:lvl1pPr>
            <a:lvl2pPr>
              <a:defRPr sz="1725" b="0">
                <a:solidFill>
                  <a:srgbClr val="F5F7FB"/>
                </a:solidFill>
              </a:defRPr>
            </a:lvl2pPr>
            <a:lvl3pPr>
              <a:defRPr sz="1725" b="0">
                <a:solidFill>
                  <a:srgbClr val="F5F7FB"/>
                </a:solidFill>
              </a:defRPr>
            </a:lvl3pPr>
            <a:lvl4pPr>
              <a:defRPr sz="1725" b="0">
                <a:solidFill>
                  <a:srgbClr val="F5F7FB"/>
                </a:solidFill>
              </a:defRPr>
            </a:lvl4pPr>
            <a:lvl5pPr>
              <a:defRPr sz="1725" b="0">
                <a:solidFill>
                  <a:srgbClr val="F5F7FB"/>
                </a:solidFill>
              </a:defRPr>
            </a:lvl5pPr>
            <a:lvl6pPr>
              <a:defRPr sz="1725" b="0">
                <a:solidFill>
                  <a:srgbClr val="F5F7FB"/>
                </a:solidFill>
              </a:defRPr>
            </a:lvl6pPr>
            <a:lvl7pPr>
              <a:defRPr sz="1725" b="0">
                <a:solidFill>
                  <a:srgbClr val="F5F7FB"/>
                </a:solidFill>
              </a:defRPr>
            </a:lvl7pPr>
            <a:lvl8pPr>
              <a:defRPr sz="1725" b="0">
                <a:solidFill>
                  <a:srgbClr val="F5F7FB"/>
                </a:solidFill>
              </a:defRPr>
            </a:lvl8pPr>
            <a:lvl9pPr>
              <a:defRPr sz="1725" b="0">
                <a:solidFill>
                  <a:srgbClr val="F5F7FB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5F7FB"/>
                </a:solidFill>
              </a:defRPr>
            </a:pPr>
            <a:r>
              <a:rPr sz="1725" b="0">
                <a:solidFill>
                  <a:srgbClr val="F5F7FB"/>
                </a:solidFill>
              </a:rPr>
              <a:t>The clinician reviews the estimate, measured cuff history, trends, and alerts, then decides whether follow-up is appropriate.</a:t>
            </a:r>
          </a:p>
        </p:txBody>
      </p:sp>
      <p:sp>
        <p:nvSpPr>
          <p:cNvPr id="7" name="Domain rule">
            <a:extLst xmlns:a="http://schemas.openxmlformats.org/drawingml/2006/main">
              <a:ext uri="{FF2B5EF4-FFF2-40B4-BE49-F238E27FC236}">
                <a16:creationId xmlns:a16="http://schemas.microsoft.com/office/drawing/2014/main" id="{F53E3B12-2004-4B98-B59F-86858C9D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B84A"/>
                </a:solidFill>
              </a:defRPr>
            </a:defPPr>
            <a:lvl1pPr>
              <a:defRPr sz="1350" b="1">
                <a:solidFill>
                  <a:srgbClr val="FFB84A"/>
                </a:solidFill>
              </a:defRPr>
            </a:lvl1pPr>
            <a:lvl2pPr>
              <a:defRPr sz="1350" b="1">
                <a:solidFill>
                  <a:srgbClr val="FFB84A"/>
                </a:solidFill>
              </a:defRPr>
            </a:lvl2pPr>
            <a:lvl3pPr>
              <a:defRPr sz="1350" b="1">
                <a:solidFill>
                  <a:srgbClr val="FFB84A"/>
                </a:solidFill>
              </a:defRPr>
            </a:lvl3pPr>
            <a:lvl4pPr>
              <a:defRPr sz="1350" b="1">
                <a:solidFill>
                  <a:srgbClr val="FFB84A"/>
                </a:solidFill>
              </a:defRPr>
            </a:lvl4pPr>
            <a:lvl5pPr>
              <a:defRPr sz="1350" b="1">
                <a:solidFill>
                  <a:srgbClr val="FFB84A"/>
                </a:solidFill>
              </a:defRPr>
            </a:lvl5pPr>
            <a:lvl6pPr>
              <a:defRPr sz="1350" b="1">
                <a:solidFill>
                  <a:srgbClr val="FFB84A"/>
                </a:solidFill>
              </a:defRPr>
            </a:lvl6pPr>
            <a:lvl7pPr>
              <a:defRPr sz="1350" b="1">
                <a:solidFill>
                  <a:srgbClr val="FFB84A"/>
                </a:solidFill>
              </a:defRPr>
            </a:lvl7pPr>
            <a:lvl8pPr>
              <a:defRPr sz="1350" b="1">
                <a:solidFill>
                  <a:srgbClr val="FFB84A"/>
                </a:solidFill>
              </a:defRPr>
            </a:lvl8pPr>
            <a:lvl9pPr>
              <a:defRPr sz="1350" b="1">
                <a:solidFill>
                  <a:srgbClr val="FFB84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B84A"/>
                </a:solidFill>
              </a:defRPr>
            </a:pPr>
            <a:r>
              <a:rPr sz="1350" b="1">
                <a:solidFill>
                  <a:srgbClr val="FFB84A"/>
                </a:solidFill>
              </a:rPr>
              <a:t>The home cuff is ground truth; a watch does not measure BP in this prototype.</a:t>
            </a:r>
          </a:p>
        </p:txBody>
      </p:sp>
    </p:spTree>
    <p:extLst>
      <p:ext uri="{BB962C8B-B14F-4D97-AF65-F5344CB8AC3E}">
        <p14:creationId xmlns:p14="http://schemas.microsoft.com/office/powerpoint/2010/main" val="2796486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17D5500A-BB84-41B4-BF8F-E6229E7C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BC8E8"/>
                </a:solidFill>
              </a:defRPr>
            </a:defPPr>
            <a:lvl1pPr>
              <a:defRPr sz="1200" b="1">
                <a:solidFill>
                  <a:srgbClr val="2BC8E8"/>
                </a:solidFill>
              </a:defRPr>
            </a:lvl1pPr>
            <a:lvl2pPr>
              <a:defRPr sz="1200" b="1">
                <a:solidFill>
                  <a:srgbClr val="2BC8E8"/>
                </a:solidFill>
              </a:defRPr>
            </a:lvl2pPr>
            <a:lvl3pPr>
              <a:defRPr sz="1200" b="1">
                <a:solidFill>
                  <a:srgbClr val="2BC8E8"/>
                </a:solidFill>
              </a:defRPr>
            </a:lvl3pPr>
            <a:lvl4pPr>
              <a:defRPr sz="1200" b="1">
                <a:solidFill>
                  <a:srgbClr val="2BC8E8"/>
                </a:solidFill>
              </a:defRPr>
            </a:lvl4pPr>
            <a:lvl5pPr>
              <a:defRPr sz="1200" b="1">
                <a:solidFill>
                  <a:srgbClr val="2BC8E8"/>
                </a:solidFill>
              </a:defRPr>
            </a:lvl5pPr>
            <a:lvl6pPr>
              <a:defRPr sz="1200" b="1">
                <a:solidFill>
                  <a:srgbClr val="2BC8E8"/>
                </a:solidFill>
              </a:defRPr>
            </a:lvl6pPr>
            <a:lvl7pPr>
              <a:defRPr sz="1200" b="1">
                <a:solidFill>
                  <a:srgbClr val="2BC8E8"/>
                </a:solidFill>
              </a:defRPr>
            </a:lvl7pPr>
            <a:lvl8pPr>
              <a:defRPr sz="1200" b="1">
                <a:solidFill>
                  <a:srgbClr val="2BC8E8"/>
                </a:solidFill>
              </a:defRPr>
            </a:lvl8pPr>
            <a:lvl9pPr>
              <a:defRPr sz="1200" b="1">
                <a:solidFill>
                  <a:srgbClr val="2BC8E8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BC8E8"/>
                </a:solidFill>
              </a:defRPr>
            </a:pPr>
            <a:r>
              <a:rPr sz="1200" b="1">
                <a:solidFill>
                  <a:srgbClr val="2BC8E8"/>
                </a:solidFill>
              </a:rPr>
              <a:t>02  /  STATIC EHR AND DYNAMIC CONTEXT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48A4FBB-5CC3-45BF-AF01-82F9A2B4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5F7FB"/>
                </a:solidFill>
              </a:defRPr>
            </a:defPPr>
            <a:lvl1pPr>
              <a:defRPr sz="2550" b="1">
                <a:solidFill>
                  <a:srgbClr val="F5F7FB"/>
                </a:solidFill>
              </a:defRPr>
            </a:lvl1pPr>
            <a:lvl2pPr>
              <a:defRPr sz="2550" b="1">
                <a:solidFill>
                  <a:srgbClr val="F5F7FB"/>
                </a:solidFill>
              </a:defRPr>
            </a:lvl2pPr>
            <a:lvl3pPr>
              <a:defRPr sz="2550" b="1">
                <a:solidFill>
                  <a:srgbClr val="F5F7FB"/>
                </a:solidFill>
              </a:defRPr>
            </a:lvl3pPr>
            <a:lvl4pPr>
              <a:defRPr sz="2550" b="1">
                <a:solidFill>
                  <a:srgbClr val="F5F7FB"/>
                </a:solidFill>
              </a:defRPr>
            </a:lvl4pPr>
            <a:lvl5pPr>
              <a:defRPr sz="2550" b="1">
                <a:solidFill>
                  <a:srgbClr val="F5F7FB"/>
                </a:solidFill>
              </a:defRPr>
            </a:lvl5pPr>
            <a:lvl6pPr>
              <a:defRPr sz="2550" b="1">
                <a:solidFill>
                  <a:srgbClr val="F5F7FB"/>
                </a:solidFill>
              </a:defRPr>
            </a:lvl6pPr>
            <a:lvl7pPr>
              <a:defRPr sz="2550" b="1">
                <a:solidFill>
                  <a:srgbClr val="F5F7FB"/>
                </a:solidFill>
              </a:defRPr>
            </a:lvl7pPr>
            <a:lvl8pPr>
              <a:defRPr sz="2550" b="1">
                <a:solidFill>
                  <a:srgbClr val="F5F7FB"/>
                </a:solidFill>
              </a:defRPr>
            </a:lvl8pPr>
            <a:lvl9pPr>
              <a:defRPr sz="2550" b="1">
                <a:solidFill>
                  <a:srgbClr val="F5F7FB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7FB"/>
                </a:solidFill>
              </a:defRPr>
            </a:pPr>
            <a:r>
              <a:rPr sz="2550" b="1">
                <a:solidFill>
                  <a:srgbClr val="F5F7FB"/>
                </a:solidFill>
              </a:rPr>
              <a:t>Data used by the synthetic twin</a:t>
            </a:r>
          </a:p>
        </p:txBody>
      </p:sp>
      <p:sp>
        <p:nvSpPr>
          <p:cNvPr id="3" name="Safety footer">
            <a:extLst xmlns:a="http://schemas.openxmlformats.org/drawingml/2006/main">
              <a:ext uri="{FF2B5EF4-FFF2-40B4-BE49-F238E27FC236}">
                <a16:creationId xmlns:a16="http://schemas.microsoft.com/office/drawing/2014/main" id="{4EEC9133-012F-4002-9E1A-2C3C5E42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8BDD7"/>
                </a:solidFill>
              </a:defRPr>
            </a:defPPr>
            <a:lvl1pPr>
              <a:defRPr sz="900" b="0">
                <a:solidFill>
                  <a:srgbClr val="A8BDD7"/>
                </a:solidFill>
              </a:defRPr>
            </a:lvl1pPr>
            <a:lvl2pPr>
              <a:defRPr sz="900" b="0">
                <a:solidFill>
                  <a:srgbClr val="A8BDD7"/>
                </a:solidFill>
              </a:defRPr>
            </a:lvl2pPr>
            <a:lvl3pPr>
              <a:defRPr sz="900" b="0">
                <a:solidFill>
                  <a:srgbClr val="A8BDD7"/>
                </a:solidFill>
              </a:defRPr>
            </a:lvl3pPr>
            <a:lvl4pPr>
              <a:defRPr sz="900" b="0">
                <a:solidFill>
                  <a:srgbClr val="A8BDD7"/>
                </a:solidFill>
              </a:defRPr>
            </a:lvl4pPr>
            <a:lvl5pPr>
              <a:defRPr sz="900" b="0">
                <a:solidFill>
                  <a:srgbClr val="A8BDD7"/>
                </a:solidFill>
              </a:defRPr>
            </a:lvl5pPr>
            <a:lvl6pPr>
              <a:defRPr sz="900" b="0">
                <a:solidFill>
                  <a:srgbClr val="A8BDD7"/>
                </a:solidFill>
              </a:defRPr>
            </a:lvl6pPr>
            <a:lvl7pPr>
              <a:defRPr sz="900" b="0">
                <a:solidFill>
                  <a:srgbClr val="A8BDD7"/>
                </a:solidFill>
              </a:defRPr>
            </a:lvl7pPr>
            <a:lvl8pPr>
              <a:defRPr sz="900" b="0">
                <a:solidFill>
                  <a:srgbClr val="A8BDD7"/>
                </a:solidFill>
              </a:defRPr>
            </a:lvl8pPr>
            <a:lvl9pPr>
              <a:defRPr sz="900" b="0">
                <a:solidFill>
                  <a:srgbClr val="A8BDD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A8BDD7"/>
                </a:solidFill>
              </a:defRPr>
            </a:pPr>
            <a:r>
              <a:rPr sz="900" b="0">
                <a:solidFill>
                  <a:srgbClr val="A8BDD7"/>
                </a:solidFill>
              </a:rPr>
              <a:t>NIGHTWATCH  |  SYNTHETIC DATA ONLY  |  NOT A MEDICAL DEVICE</a:t>
            </a:r>
          </a:p>
        </p:txBody>
      </p:sp>
      <p:sp>
        <p:nvSpPr>
          <p:cNvPr id="4" name="Static heading">
            <a:extLst xmlns:a="http://schemas.openxmlformats.org/drawingml/2006/main">
              <a:ext uri="{FF2B5EF4-FFF2-40B4-BE49-F238E27FC236}">
                <a16:creationId xmlns:a16="http://schemas.microsoft.com/office/drawing/2014/main" id="{C39B549F-6D69-4CEB-B698-45D92C6E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481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BC8E8"/>
                </a:solidFill>
              </a:defRPr>
            </a:defPPr>
            <a:lvl1pPr>
              <a:defRPr sz="1500" b="1">
                <a:solidFill>
                  <a:srgbClr val="2BC8E8"/>
                </a:solidFill>
              </a:defRPr>
            </a:lvl1pPr>
            <a:lvl2pPr>
              <a:defRPr sz="1500" b="1">
                <a:solidFill>
                  <a:srgbClr val="2BC8E8"/>
                </a:solidFill>
              </a:defRPr>
            </a:lvl2pPr>
            <a:lvl3pPr>
              <a:defRPr sz="1500" b="1">
                <a:solidFill>
                  <a:srgbClr val="2BC8E8"/>
                </a:solidFill>
              </a:defRPr>
            </a:lvl3pPr>
            <a:lvl4pPr>
              <a:defRPr sz="1500" b="1">
                <a:solidFill>
                  <a:srgbClr val="2BC8E8"/>
                </a:solidFill>
              </a:defRPr>
            </a:lvl4pPr>
            <a:lvl5pPr>
              <a:defRPr sz="1500" b="1">
                <a:solidFill>
                  <a:srgbClr val="2BC8E8"/>
                </a:solidFill>
              </a:defRPr>
            </a:lvl5pPr>
            <a:lvl6pPr>
              <a:defRPr sz="1500" b="1">
                <a:solidFill>
                  <a:srgbClr val="2BC8E8"/>
                </a:solidFill>
              </a:defRPr>
            </a:lvl6pPr>
            <a:lvl7pPr>
              <a:defRPr sz="1500" b="1">
                <a:solidFill>
                  <a:srgbClr val="2BC8E8"/>
                </a:solidFill>
              </a:defRPr>
            </a:lvl7pPr>
            <a:lvl8pPr>
              <a:defRPr sz="1500" b="1">
                <a:solidFill>
                  <a:srgbClr val="2BC8E8"/>
                </a:solidFill>
              </a:defRPr>
            </a:lvl8pPr>
            <a:lvl9pPr>
              <a:defRPr sz="1500" b="1">
                <a:solidFill>
                  <a:srgbClr val="2BC8E8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BC8E8"/>
                </a:solidFill>
              </a:defRPr>
            </a:pPr>
            <a:r>
              <a:rPr sz="1500" b="1">
                <a:solidFill>
                  <a:srgbClr val="2BC8E8"/>
                </a:solidFill>
              </a:rPr>
              <a:t>STATIC EHR</a:t>
            </a:r>
          </a:p>
        </p:txBody>
      </p:sp>
      <p:sp>
        <p:nvSpPr>
          <p:cNvPr id="5" name="Static features">
            <a:extLst xmlns:a="http://schemas.openxmlformats.org/drawingml/2006/main">
              <a:ext uri="{FF2B5EF4-FFF2-40B4-BE49-F238E27FC236}">
                <a16:creationId xmlns:a16="http://schemas.microsoft.com/office/drawing/2014/main" id="{1262E178-C227-4C8F-837B-FE3E2DF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810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5F7FB"/>
                </a:solidFill>
              </a:defRPr>
            </a:defPPr>
            <a:lvl1pPr>
              <a:defRPr sz="1800" b="0">
                <a:solidFill>
                  <a:srgbClr val="F5F7FB"/>
                </a:solidFill>
              </a:defRPr>
            </a:lvl1pPr>
            <a:lvl2pPr>
              <a:defRPr sz="1800" b="0">
                <a:solidFill>
                  <a:srgbClr val="F5F7FB"/>
                </a:solidFill>
              </a:defRPr>
            </a:lvl2pPr>
            <a:lvl3pPr>
              <a:defRPr sz="1800" b="0">
                <a:solidFill>
                  <a:srgbClr val="F5F7FB"/>
                </a:solidFill>
              </a:defRPr>
            </a:lvl3pPr>
            <a:lvl4pPr>
              <a:defRPr sz="1800" b="0">
                <a:solidFill>
                  <a:srgbClr val="F5F7FB"/>
                </a:solidFill>
              </a:defRPr>
            </a:lvl4pPr>
            <a:lvl5pPr>
              <a:defRPr sz="1800" b="0">
                <a:solidFill>
                  <a:srgbClr val="F5F7FB"/>
                </a:solidFill>
              </a:defRPr>
            </a:lvl5pPr>
            <a:lvl6pPr>
              <a:defRPr sz="1800" b="0">
                <a:solidFill>
                  <a:srgbClr val="F5F7FB"/>
                </a:solidFill>
              </a:defRPr>
            </a:lvl6pPr>
            <a:lvl7pPr>
              <a:defRPr sz="1800" b="0">
                <a:solidFill>
                  <a:srgbClr val="F5F7FB"/>
                </a:solidFill>
              </a:defRPr>
            </a:lvl7pPr>
            <a:lvl8pPr>
              <a:defRPr sz="1800" b="0">
                <a:solidFill>
                  <a:srgbClr val="F5F7FB"/>
                </a:solidFill>
              </a:defRPr>
            </a:lvl8pPr>
            <a:lvl9pPr>
              <a:defRPr sz="1800" b="0">
                <a:solidFill>
                  <a:srgbClr val="F5F7F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5F7FB"/>
                </a:solidFill>
              </a:defRPr>
            </a:pPr>
            <a:r>
              <a:rPr sz="1800" b="0">
                <a:solidFill>
                  <a:srgbClr val="F5F7FB"/>
                </a:solidFill>
              </a:rPr>
              <a:t>Demographics, prior diagnoses, laboratory results, medications, and family-history fields.</a:t>
            </a:r>
          </a:p>
        </p:txBody>
      </p:sp>
      <p:sp>
        <p:nvSpPr>
          <p:cNvPr id="6" name="Dynamic heading">
            <a:extLst xmlns:a="http://schemas.openxmlformats.org/drawingml/2006/main">
              <a:ext uri="{FF2B5EF4-FFF2-40B4-BE49-F238E27FC236}">
                <a16:creationId xmlns:a16="http://schemas.microsoft.com/office/drawing/2014/main" id="{0062465F-B42D-4406-B51D-A51D8A0B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481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C79FF"/>
                </a:solidFill>
              </a:defRPr>
            </a:defPPr>
            <a:lvl1pPr>
              <a:defRPr sz="1500" b="1">
                <a:solidFill>
                  <a:srgbClr val="BC79FF"/>
                </a:solidFill>
              </a:defRPr>
            </a:lvl1pPr>
            <a:lvl2pPr>
              <a:defRPr sz="1500" b="1">
                <a:solidFill>
                  <a:srgbClr val="BC79FF"/>
                </a:solidFill>
              </a:defRPr>
            </a:lvl2pPr>
            <a:lvl3pPr>
              <a:defRPr sz="1500" b="1">
                <a:solidFill>
                  <a:srgbClr val="BC79FF"/>
                </a:solidFill>
              </a:defRPr>
            </a:lvl3pPr>
            <a:lvl4pPr>
              <a:defRPr sz="1500" b="1">
                <a:solidFill>
                  <a:srgbClr val="BC79FF"/>
                </a:solidFill>
              </a:defRPr>
            </a:lvl4pPr>
            <a:lvl5pPr>
              <a:defRPr sz="1500" b="1">
                <a:solidFill>
                  <a:srgbClr val="BC79FF"/>
                </a:solidFill>
              </a:defRPr>
            </a:lvl5pPr>
            <a:lvl6pPr>
              <a:defRPr sz="1500" b="1">
                <a:solidFill>
                  <a:srgbClr val="BC79FF"/>
                </a:solidFill>
              </a:defRPr>
            </a:lvl6pPr>
            <a:lvl7pPr>
              <a:defRPr sz="1500" b="1">
                <a:solidFill>
                  <a:srgbClr val="BC79FF"/>
                </a:solidFill>
              </a:defRPr>
            </a:lvl7pPr>
            <a:lvl8pPr>
              <a:defRPr sz="1500" b="1">
                <a:solidFill>
                  <a:srgbClr val="BC79FF"/>
                </a:solidFill>
              </a:defRPr>
            </a:lvl8pPr>
            <a:lvl9pPr>
              <a:defRPr sz="1500" b="1">
                <a:solidFill>
                  <a:srgbClr val="BC79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C79FF"/>
                </a:solidFill>
              </a:defRPr>
            </a:pPr>
            <a:r>
              <a:rPr sz="1500" b="1">
                <a:solidFill>
                  <a:srgbClr val="BC79FF"/>
                </a:solidFill>
              </a:rPr>
              <a:t>DYNAMIC CONTEXT</a:t>
            </a:r>
          </a:p>
        </p:txBody>
      </p:sp>
      <p:sp>
        <p:nvSpPr>
          <p:cNvPr id="7" name="Wearable features">
            <a:extLst xmlns:a="http://schemas.openxmlformats.org/drawingml/2006/main">
              <a:ext uri="{FF2B5EF4-FFF2-40B4-BE49-F238E27FC236}">
                <a16:creationId xmlns:a16="http://schemas.microsoft.com/office/drawing/2014/main" id="{07A064F4-8BCC-44F8-A00E-A56D044A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66950"/>
            <a:ext cx="4810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5F7FB"/>
                </a:solidFill>
              </a:defRPr>
            </a:defPPr>
            <a:lvl1pPr>
              <a:defRPr sz="1800" b="0">
                <a:solidFill>
                  <a:srgbClr val="F5F7FB"/>
                </a:solidFill>
              </a:defRPr>
            </a:lvl1pPr>
            <a:lvl2pPr>
              <a:defRPr sz="1800" b="0">
                <a:solidFill>
                  <a:srgbClr val="F5F7FB"/>
                </a:solidFill>
              </a:defRPr>
            </a:lvl2pPr>
            <a:lvl3pPr>
              <a:defRPr sz="1800" b="0">
                <a:solidFill>
                  <a:srgbClr val="F5F7FB"/>
                </a:solidFill>
              </a:defRPr>
            </a:lvl3pPr>
            <a:lvl4pPr>
              <a:defRPr sz="1800" b="0">
                <a:solidFill>
                  <a:srgbClr val="F5F7FB"/>
                </a:solidFill>
              </a:defRPr>
            </a:lvl4pPr>
            <a:lvl5pPr>
              <a:defRPr sz="1800" b="0">
                <a:solidFill>
                  <a:srgbClr val="F5F7FB"/>
                </a:solidFill>
              </a:defRPr>
            </a:lvl5pPr>
            <a:lvl6pPr>
              <a:defRPr sz="1800" b="0">
                <a:solidFill>
                  <a:srgbClr val="F5F7FB"/>
                </a:solidFill>
              </a:defRPr>
            </a:lvl6pPr>
            <a:lvl7pPr>
              <a:defRPr sz="1800" b="0">
                <a:solidFill>
                  <a:srgbClr val="F5F7FB"/>
                </a:solidFill>
              </a:defRPr>
            </a:lvl7pPr>
            <a:lvl8pPr>
              <a:defRPr sz="1800" b="0">
                <a:solidFill>
                  <a:srgbClr val="F5F7FB"/>
                </a:solidFill>
              </a:defRPr>
            </a:lvl8pPr>
            <a:lvl9pPr>
              <a:defRPr sz="1800" b="0">
                <a:solidFill>
                  <a:srgbClr val="F5F7F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5F7FB"/>
                </a:solidFill>
              </a:defRPr>
            </a:pPr>
            <a:r>
              <a:rPr sz="1800" b="0">
                <a:solidFill>
                  <a:srgbClr val="F5F7FB"/>
                </a:solidFill>
              </a:rPr>
              <a:t>Simulated sleep stages, HRV, steps, resting heart rate, and medication timing.</a:t>
            </a:r>
          </a:p>
        </p:txBody>
      </p:sp>
      <p:sp>
        <p:nvSpPr>
          <p:cNvPr id="8" name="Label heading">
            <a:extLst xmlns:a="http://schemas.openxmlformats.org/drawingml/2006/main">
              <a:ext uri="{FF2B5EF4-FFF2-40B4-BE49-F238E27FC236}">
                <a16:creationId xmlns:a16="http://schemas.microsoft.com/office/drawing/2014/main" id="{82CE1B22-37D3-4596-B975-27A68D6C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B84A"/>
                </a:solidFill>
              </a:defRPr>
            </a:defPPr>
            <a:lvl1pPr>
              <a:defRPr sz="1350" b="1">
                <a:solidFill>
                  <a:srgbClr val="FFB84A"/>
                </a:solidFill>
              </a:defRPr>
            </a:lvl1pPr>
            <a:lvl2pPr>
              <a:defRPr sz="1350" b="1">
                <a:solidFill>
                  <a:srgbClr val="FFB84A"/>
                </a:solidFill>
              </a:defRPr>
            </a:lvl2pPr>
            <a:lvl3pPr>
              <a:defRPr sz="1350" b="1">
                <a:solidFill>
                  <a:srgbClr val="FFB84A"/>
                </a:solidFill>
              </a:defRPr>
            </a:lvl3pPr>
            <a:lvl4pPr>
              <a:defRPr sz="1350" b="1">
                <a:solidFill>
                  <a:srgbClr val="FFB84A"/>
                </a:solidFill>
              </a:defRPr>
            </a:lvl4pPr>
            <a:lvl5pPr>
              <a:defRPr sz="1350" b="1">
                <a:solidFill>
                  <a:srgbClr val="FFB84A"/>
                </a:solidFill>
              </a:defRPr>
            </a:lvl5pPr>
            <a:lvl6pPr>
              <a:defRPr sz="1350" b="1">
                <a:solidFill>
                  <a:srgbClr val="FFB84A"/>
                </a:solidFill>
              </a:defRPr>
            </a:lvl6pPr>
            <a:lvl7pPr>
              <a:defRPr sz="1350" b="1">
                <a:solidFill>
                  <a:srgbClr val="FFB84A"/>
                </a:solidFill>
              </a:defRPr>
            </a:lvl7pPr>
            <a:lvl8pPr>
              <a:defRPr sz="1350" b="1">
                <a:solidFill>
                  <a:srgbClr val="FFB84A"/>
                </a:solidFill>
              </a:defRPr>
            </a:lvl8pPr>
            <a:lvl9pPr>
              <a:defRPr sz="1350" b="1">
                <a:solidFill>
                  <a:srgbClr val="FFB84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B84A"/>
                </a:solidFill>
              </a:defRPr>
            </a:pPr>
            <a:r>
              <a:rPr sz="1350" b="1">
                <a:solidFill>
                  <a:srgbClr val="FFB84A"/>
                </a:solidFill>
              </a:rPr>
              <a:t>LABEL SOURCE AND LIMITATION</a:t>
            </a:r>
          </a:p>
        </p:txBody>
      </p:sp>
      <p:sp>
        <p:nvSpPr>
          <p:cNvPr id="9" name="Circular label statement">
            <a:extLst xmlns:a="http://schemas.openxmlformats.org/drawingml/2006/main">
              <a:ext uri="{FF2B5EF4-FFF2-40B4-BE49-F238E27FC236}">
                <a16:creationId xmlns:a16="http://schemas.microsoft.com/office/drawing/2014/main" id="{F4BC4812-56D1-4806-B66D-9CD9B383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5F7FB"/>
                </a:solidFill>
              </a:defRPr>
            </a:defPPr>
            <a:lvl1pPr>
              <a:defRPr sz="1650" b="0">
                <a:solidFill>
                  <a:srgbClr val="F5F7FB"/>
                </a:solidFill>
              </a:defRPr>
            </a:lvl1pPr>
            <a:lvl2pPr>
              <a:defRPr sz="1650" b="0">
                <a:solidFill>
                  <a:srgbClr val="F5F7FB"/>
                </a:solidFill>
              </a:defRPr>
            </a:lvl2pPr>
            <a:lvl3pPr>
              <a:defRPr sz="1650" b="0">
                <a:solidFill>
                  <a:srgbClr val="F5F7FB"/>
                </a:solidFill>
              </a:defRPr>
            </a:lvl3pPr>
            <a:lvl4pPr>
              <a:defRPr sz="1650" b="0">
                <a:solidFill>
                  <a:srgbClr val="F5F7FB"/>
                </a:solidFill>
              </a:defRPr>
            </a:lvl4pPr>
            <a:lvl5pPr>
              <a:defRPr sz="1650" b="0">
                <a:solidFill>
                  <a:srgbClr val="F5F7FB"/>
                </a:solidFill>
              </a:defRPr>
            </a:lvl5pPr>
            <a:lvl6pPr>
              <a:defRPr sz="1650" b="0">
                <a:solidFill>
                  <a:srgbClr val="F5F7FB"/>
                </a:solidFill>
              </a:defRPr>
            </a:lvl6pPr>
            <a:lvl7pPr>
              <a:defRPr sz="1650" b="0">
                <a:solidFill>
                  <a:srgbClr val="F5F7FB"/>
                </a:solidFill>
              </a:defRPr>
            </a:lvl7pPr>
            <a:lvl8pPr>
              <a:defRPr sz="1650" b="0">
                <a:solidFill>
                  <a:srgbClr val="F5F7FB"/>
                </a:solidFill>
              </a:defRPr>
            </a:lvl8pPr>
            <a:lvl9pPr>
              <a:defRPr sz="1650" b="0">
                <a:solidFill>
                  <a:srgbClr val="F5F7F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5F7FB"/>
                </a:solidFill>
              </a:defRPr>
            </a:pPr>
            <a:r>
              <a:rPr sz="1650" b="0">
                <a:solidFill>
                  <a:srgbClr val="F5F7FB"/>
                </a:solidFill>
              </a:rPr>
              <a:t>Labels come from simulated next-day cuff readings generated from a hidden latent risk score that includes sleep debt, HRV drop, activity, and stress. This partly circular setup measures recovery of simulator assumptions, not evidence on real patients.</a:t>
            </a:r>
          </a:p>
        </p:txBody>
      </p:sp>
    </p:spTree>
    <p:extLst>
      <p:ext uri="{BB962C8B-B14F-4D97-AF65-F5344CB8AC3E}">
        <p14:creationId xmlns:p14="http://schemas.microsoft.com/office/powerpoint/2010/main" val="1675055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D336A3FA-265B-4347-AA18-6355CE10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BC8E8"/>
                </a:solidFill>
              </a:defRPr>
            </a:defPPr>
            <a:lvl1pPr>
              <a:defRPr sz="1200" b="1">
                <a:solidFill>
                  <a:srgbClr val="2BC8E8"/>
                </a:solidFill>
              </a:defRPr>
            </a:lvl1pPr>
            <a:lvl2pPr>
              <a:defRPr sz="1200" b="1">
                <a:solidFill>
                  <a:srgbClr val="2BC8E8"/>
                </a:solidFill>
              </a:defRPr>
            </a:lvl2pPr>
            <a:lvl3pPr>
              <a:defRPr sz="1200" b="1">
                <a:solidFill>
                  <a:srgbClr val="2BC8E8"/>
                </a:solidFill>
              </a:defRPr>
            </a:lvl3pPr>
            <a:lvl4pPr>
              <a:defRPr sz="1200" b="1">
                <a:solidFill>
                  <a:srgbClr val="2BC8E8"/>
                </a:solidFill>
              </a:defRPr>
            </a:lvl4pPr>
            <a:lvl5pPr>
              <a:defRPr sz="1200" b="1">
                <a:solidFill>
                  <a:srgbClr val="2BC8E8"/>
                </a:solidFill>
              </a:defRPr>
            </a:lvl5pPr>
            <a:lvl6pPr>
              <a:defRPr sz="1200" b="1">
                <a:solidFill>
                  <a:srgbClr val="2BC8E8"/>
                </a:solidFill>
              </a:defRPr>
            </a:lvl6pPr>
            <a:lvl7pPr>
              <a:defRPr sz="1200" b="1">
                <a:solidFill>
                  <a:srgbClr val="2BC8E8"/>
                </a:solidFill>
              </a:defRPr>
            </a:lvl7pPr>
            <a:lvl8pPr>
              <a:defRPr sz="1200" b="1">
                <a:solidFill>
                  <a:srgbClr val="2BC8E8"/>
                </a:solidFill>
              </a:defRPr>
            </a:lvl8pPr>
            <a:lvl9pPr>
              <a:defRPr sz="1200" b="1">
                <a:solidFill>
                  <a:srgbClr val="2BC8E8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BC8E8"/>
                </a:solidFill>
              </a:defRPr>
            </a:pPr>
            <a:r>
              <a:rPr sz="1200" b="1">
                <a:solidFill>
                  <a:srgbClr val="2BC8E8"/>
                </a:solidFill>
              </a:rPr>
              <a:t>03  /  PROTOTYPE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E8DFCC7-315F-4B39-A464-510D647A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5F7FB"/>
                </a:solidFill>
              </a:defRPr>
            </a:defPPr>
            <a:lvl1pPr>
              <a:defRPr sz="2550" b="1">
                <a:solidFill>
                  <a:srgbClr val="F5F7FB"/>
                </a:solidFill>
              </a:defRPr>
            </a:lvl1pPr>
            <a:lvl2pPr>
              <a:defRPr sz="2550" b="1">
                <a:solidFill>
                  <a:srgbClr val="F5F7FB"/>
                </a:solidFill>
              </a:defRPr>
            </a:lvl2pPr>
            <a:lvl3pPr>
              <a:defRPr sz="2550" b="1">
                <a:solidFill>
                  <a:srgbClr val="F5F7FB"/>
                </a:solidFill>
              </a:defRPr>
            </a:lvl3pPr>
            <a:lvl4pPr>
              <a:defRPr sz="2550" b="1">
                <a:solidFill>
                  <a:srgbClr val="F5F7FB"/>
                </a:solidFill>
              </a:defRPr>
            </a:lvl4pPr>
            <a:lvl5pPr>
              <a:defRPr sz="2550" b="1">
                <a:solidFill>
                  <a:srgbClr val="F5F7FB"/>
                </a:solidFill>
              </a:defRPr>
            </a:lvl5pPr>
            <a:lvl6pPr>
              <a:defRPr sz="2550" b="1">
                <a:solidFill>
                  <a:srgbClr val="F5F7FB"/>
                </a:solidFill>
              </a:defRPr>
            </a:lvl6pPr>
            <a:lvl7pPr>
              <a:defRPr sz="2550" b="1">
                <a:solidFill>
                  <a:srgbClr val="F5F7FB"/>
                </a:solidFill>
              </a:defRPr>
            </a:lvl7pPr>
            <a:lvl8pPr>
              <a:defRPr sz="2550" b="1">
                <a:solidFill>
                  <a:srgbClr val="F5F7FB"/>
                </a:solidFill>
              </a:defRPr>
            </a:lvl8pPr>
            <a:lvl9pPr>
              <a:defRPr sz="2550" b="1">
                <a:solidFill>
                  <a:srgbClr val="F5F7FB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7FB"/>
                </a:solidFill>
              </a:defRPr>
            </a:pPr>
            <a:r>
              <a:rPr sz="2550" b="1">
                <a:solidFill>
                  <a:srgbClr val="F5F7FB"/>
                </a:solidFill>
              </a:rPr>
              <a:t>Clinician dashboard</a:t>
            </a:r>
          </a:p>
        </p:txBody>
      </p:sp>
      <p:sp>
        <p:nvSpPr>
          <p:cNvPr id="3" name="Safety footer">
            <a:extLst xmlns:a="http://schemas.openxmlformats.org/drawingml/2006/main">
              <a:ext uri="{FF2B5EF4-FFF2-40B4-BE49-F238E27FC236}">
                <a16:creationId xmlns:a16="http://schemas.microsoft.com/office/drawing/2014/main" id="{294FA2E8-E536-4A21-B92F-84B8E6F9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8BDD7"/>
                </a:solidFill>
              </a:defRPr>
            </a:defPPr>
            <a:lvl1pPr>
              <a:defRPr sz="900" b="0">
                <a:solidFill>
                  <a:srgbClr val="A8BDD7"/>
                </a:solidFill>
              </a:defRPr>
            </a:lvl1pPr>
            <a:lvl2pPr>
              <a:defRPr sz="900" b="0">
                <a:solidFill>
                  <a:srgbClr val="A8BDD7"/>
                </a:solidFill>
              </a:defRPr>
            </a:lvl2pPr>
            <a:lvl3pPr>
              <a:defRPr sz="900" b="0">
                <a:solidFill>
                  <a:srgbClr val="A8BDD7"/>
                </a:solidFill>
              </a:defRPr>
            </a:lvl3pPr>
            <a:lvl4pPr>
              <a:defRPr sz="900" b="0">
                <a:solidFill>
                  <a:srgbClr val="A8BDD7"/>
                </a:solidFill>
              </a:defRPr>
            </a:lvl4pPr>
            <a:lvl5pPr>
              <a:defRPr sz="900" b="0">
                <a:solidFill>
                  <a:srgbClr val="A8BDD7"/>
                </a:solidFill>
              </a:defRPr>
            </a:lvl5pPr>
            <a:lvl6pPr>
              <a:defRPr sz="900" b="0">
                <a:solidFill>
                  <a:srgbClr val="A8BDD7"/>
                </a:solidFill>
              </a:defRPr>
            </a:lvl6pPr>
            <a:lvl7pPr>
              <a:defRPr sz="900" b="0">
                <a:solidFill>
                  <a:srgbClr val="A8BDD7"/>
                </a:solidFill>
              </a:defRPr>
            </a:lvl7pPr>
            <a:lvl8pPr>
              <a:defRPr sz="900" b="0">
                <a:solidFill>
                  <a:srgbClr val="A8BDD7"/>
                </a:solidFill>
              </a:defRPr>
            </a:lvl8pPr>
            <a:lvl9pPr>
              <a:defRPr sz="900" b="0">
                <a:solidFill>
                  <a:srgbClr val="A8BDD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A8BDD7"/>
                </a:solidFill>
              </a:defRPr>
            </a:pPr>
            <a:r>
              <a:rPr sz="900" b="0">
                <a:solidFill>
                  <a:srgbClr val="A8BDD7"/>
                </a:solidFill>
              </a:rPr>
              <a:t>NIGHTWATCH  |  SYNTHETIC DATA ONLY  |  NOT A MEDICAL DEVICE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0CD62-182F-4B35-853E-E4222DE0D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d086063844664"/>
          <a:stretch xmlns:a="http://schemas.openxmlformats.org/drawingml/2006/main"/>
        </p:blipFill>
        <p:spPr>
          <a:xfrm xmlns:a="http://schemas.openxmlformats.org/drawingml/2006/main">
            <a:off x="1129838" y="1571625"/>
            <a:ext cx="9932325" cy="4714875"/>
          </a:xfrm>
          <a:prstGeom xmlns:a="http://schemas.openxmlformats.org/drawingml/2006/main" prst="rect">
            <a:avLst/>
          </a:prstGeom>
        </p:spPr>
      </p:pic>
      <p:sp>
        <p:nvSpPr>
          <p:cNvPr id="5" name="Screenshot caption">
            <a:extLst xmlns:a="http://schemas.openxmlformats.org/drawingml/2006/main">
              <a:ext uri="{FF2B5EF4-FFF2-40B4-BE49-F238E27FC236}">
                <a16:creationId xmlns:a16="http://schemas.microsoft.com/office/drawing/2014/main" id="{7D80EB95-C1F0-4EDE-A36C-8E479AF9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960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8BDD7"/>
                </a:solidFill>
              </a:defRPr>
            </a:defPPr>
            <a:lvl1pPr>
              <a:defRPr sz="1050" b="0">
                <a:solidFill>
                  <a:srgbClr val="A8BDD7"/>
                </a:solidFill>
              </a:defRPr>
            </a:lvl1pPr>
            <a:lvl2pPr>
              <a:defRPr sz="1050" b="0">
                <a:solidFill>
                  <a:srgbClr val="A8BDD7"/>
                </a:solidFill>
              </a:defRPr>
            </a:lvl2pPr>
            <a:lvl3pPr>
              <a:defRPr sz="1050" b="0">
                <a:solidFill>
                  <a:srgbClr val="A8BDD7"/>
                </a:solidFill>
              </a:defRPr>
            </a:lvl3pPr>
            <a:lvl4pPr>
              <a:defRPr sz="1050" b="0">
                <a:solidFill>
                  <a:srgbClr val="A8BDD7"/>
                </a:solidFill>
              </a:defRPr>
            </a:lvl4pPr>
            <a:lvl5pPr>
              <a:defRPr sz="1050" b="0">
                <a:solidFill>
                  <a:srgbClr val="A8BDD7"/>
                </a:solidFill>
              </a:defRPr>
            </a:lvl5pPr>
            <a:lvl6pPr>
              <a:defRPr sz="1050" b="0">
                <a:solidFill>
                  <a:srgbClr val="A8BDD7"/>
                </a:solidFill>
              </a:defRPr>
            </a:lvl6pPr>
            <a:lvl7pPr>
              <a:defRPr sz="1050" b="0">
                <a:solidFill>
                  <a:srgbClr val="A8BDD7"/>
                </a:solidFill>
              </a:defRPr>
            </a:lvl7pPr>
            <a:lvl8pPr>
              <a:defRPr sz="1050" b="0">
                <a:solidFill>
                  <a:srgbClr val="A8BDD7"/>
                </a:solidFill>
              </a:defRPr>
            </a:lvl8pPr>
            <a:lvl9pPr>
              <a:defRPr sz="1050" b="0">
                <a:solidFill>
                  <a:srgbClr val="A8BDD7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8BDD7"/>
                </a:solidFill>
              </a:defRPr>
            </a:pPr>
            <a:r>
              <a:rPr sz="1050" b="0">
                <a:solidFill>
                  <a:srgbClr val="A8BDD7"/>
                </a:solidFill>
              </a:rPr>
              <a:t>Example clinician session on synthetic records; displayed values are specific to this demo session.</a:t>
            </a:r>
          </a:p>
        </p:txBody>
      </p:sp>
    </p:spTree>
    <p:extLst>
      <p:ext uri="{BB962C8B-B14F-4D97-AF65-F5344CB8AC3E}">
        <p14:creationId xmlns:p14="http://schemas.microsoft.com/office/powerpoint/2010/main" val="9704699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41C50D08-96AC-4AC2-BBC3-D60C5C48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BC8E8"/>
                </a:solidFill>
              </a:defRPr>
            </a:defPPr>
            <a:lvl1pPr>
              <a:defRPr sz="1200" b="1">
                <a:solidFill>
                  <a:srgbClr val="2BC8E8"/>
                </a:solidFill>
              </a:defRPr>
            </a:lvl1pPr>
            <a:lvl2pPr>
              <a:defRPr sz="1200" b="1">
                <a:solidFill>
                  <a:srgbClr val="2BC8E8"/>
                </a:solidFill>
              </a:defRPr>
            </a:lvl2pPr>
            <a:lvl3pPr>
              <a:defRPr sz="1200" b="1">
                <a:solidFill>
                  <a:srgbClr val="2BC8E8"/>
                </a:solidFill>
              </a:defRPr>
            </a:lvl3pPr>
            <a:lvl4pPr>
              <a:defRPr sz="1200" b="1">
                <a:solidFill>
                  <a:srgbClr val="2BC8E8"/>
                </a:solidFill>
              </a:defRPr>
            </a:lvl4pPr>
            <a:lvl5pPr>
              <a:defRPr sz="1200" b="1">
                <a:solidFill>
                  <a:srgbClr val="2BC8E8"/>
                </a:solidFill>
              </a:defRPr>
            </a:lvl5pPr>
            <a:lvl6pPr>
              <a:defRPr sz="1200" b="1">
                <a:solidFill>
                  <a:srgbClr val="2BC8E8"/>
                </a:solidFill>
              </a:defRPr>
            </a:lvl6pPr>
            <a:lvl7pPr>
              <a:defRPr sz="1200" b="1">
                <a:solidFill>
                  <a:srgbClr val="2BC8E8"/>
                </a:solidFill>
              </a:defRPr>
            </a:lvl7pPr>
            <a:lvl8pPr>
              <a:defRPr sz="1200" b="1">
                <a:solidFill>
                  <a:srgbClr val="2BC8E8"/>
                </a:solidFill>
              </a:defRPr>
            </a:lvl8pPr>
            <a:lvl9pPr>
              <a:defRPr sz="1200" b="1">
                <a:solidFill>
                  <a:srgbClr val="2BC8E8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BC8E8"/>
                </a:solidFill>
              </a:defRPr>
            </a:pPr>
            <a:r>
              <a:rPr sz="1200" b="1">
                <a:solidFill>
                  <a:srgbClr val="2BC8E8"/>
                </a:solidFill>
              </a:rPr>
              <a:t>04  /  PATIENT-GROUPED FIVE-FOLD CV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102499A-4DC8-446F-8AD4-18B99A28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5F7FB"/>
                </a:solidFill>
              </a:defRPr>
            </a:defPPr>
            <a:lvl1pPr>
              <a:defRPr sz="2550" b="1">
                <a:solidFill>
                  <a:srgbClr val="F5F7FB"/>
                </a:solidFill>
              </a:defRPr>
            </a:lvl1pPr>
            <a:lvl2pPr>
              <a:defRPr sz="2550" b="1">
                <a:solidFill>
                  <a:srgbClr val="F5F7FB"/>
                </a:solidFill>
              </a:defRPr>
            </a:lvl2pPr>
            <a:lvl3pPr>
              <a:defRPr sz="2550" b="1">
                <a:solidFill>
                  <a:srgbClr val="F5F7FB"/>
                </a:solidFill>
              </a:defRPr>
            </a:lvl3pPr>
            <a:lvl4pPr>
              <a:defRPr sz="2550" b="1">
                <a:solidFill>
                  <a:srgbClr val="F5F7FB"/>
                </a:solidFill>
              </a:defRPr>
            </a:lvl4pPr>
            <a:lvl5pPr>
              <a:defRPr sz="2550" b="1">
                <a:solidFill>
                  <a:srgbClr val="F5F7FB"/>
                </a:solidFill>
              </a:defRPr>
            </a:lvl5pPr>
            <a:lvl6pPr>
              <a:defRPr sz="2550" b="1">
                <a:solidFill>
                  <a:srgbClr val="F5F7FB"/>
                </a:solidFill>
              </a:defRPr>
            </a:lvl6pPr>
            <a:lvl7pPr>
              <a:defRPr sz="2550" b="1">
                <a:solidFill>
                  <a:srgbClr val="F5F7FB"/>
                </a:solidFill>
              </a:defRPr>
            </a:lvl7pPr>
            <a:lvl8pPr>
              <a:defRPr sz="2550" b="1">
                <a:solidFill>
                  <a:srgbClr val="F5F7FB"/>
                </a:solidFill>
              </a:defRPr>
            </a:lvl8pPr>
            <a:lvl9pPr>
              <a:defRPr sz="2550" b="1">
                <a:solidFill>
                  <a:srgbClr val="F5F7FB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7FB"/>
                </a:solidFill>
              </a:defRPr>
            </a:pPr>
            <a:r>
              <a:rPr sz="2550" b="1">
                <a:solidFill>
                  <a:srgbClr val="F5F7FB"/>
                </a:solidFill>
              </a:rPr>
              <a:t>Model evaluation</a:t>
            </a:r>
          </a:p>
        </p:txBody>
      </p:sp>
      <p:sp>
        <p:nvSpPr>
          <p:cNvPr id="3" name="Safety footer">
            <a:extLst xmlns:a="http://schemas.openxmlformats.org/drawingml/2006/main">
              <a:ext uri="{FF2B5EF4-FFF2-40B4-BE49-F238E27FC236}">
                <a16:creationId xmlns:a16="http://schemas.microsoft.com/office/drawing/2014/main" id="{8B777B30-4A0D-4497-A49E-06C49A04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8BDD7"/>
                </a:solidFill>
              </a:defRPr>
            </a:defPPr>
            <a:lvl1pPr>
              <a:defRPr sz="900" b="0">
                <a:solidFill>
                  <a:srgbClr val="A8BDD7"/>
                </a:solidFill>
              </a:defRPr>
            </a:lvl1pPr>
            <a:lvl2pPr>
              <a:defRPr sz="900" b="0">
                <a:solidFill>
                  <a:srgbClr val="A8BDD7"/>
                </a:solidFill>
              </a:defRPr>
            </a:lvl2pPr>
            <a:lvl3pPr>
              <a:defRPr sz="900" b="0">
                <a:solidFill>
                  <a:srgbClr val="A8BDD7"/>
                </a:solidFill>
              </a:defRPr>
            </a:lvl3pPr>
            <a:lvl4pPr>
              <a:defRPr sz="900" b="0">
                <a:solidFill>
                  <a:srgbClr val="A8BDD7"/>
                </a:solidFill>
              </a:defRPr>
            </a:lvl4pPr>
            <a:lvl5pPr>
              <a:defRPr sz="900" b="0">
                <a:solidFill>
                  <a:srgbClr val="A8BDD7"/>
                </a:solidFill>
              </a:defRPr>
            </a:lvl5pPr>
            <a:lvl6pPr>
              <a:defRPr sz="900" b="0">
                <a:solidFill>
                  <a:srgbClr val="A8BDD7"/>
                </a:solidFill>
              </a:defRPr>
            </a:lvl6pPr>
            <a:lvl7pPr>
              <a:defRPr sz="900" b="0">
                <a:solidFill>
                  <a:srgbClr val="A8BDD7"/>
                </a:solidFill>
              </a:defRPr>
            </a:lvl7pPr>
            <a:lvl8pPr>
              <a:defRPr sz="900" b="0">
                <a:solidFill>
                  <a:srgbClr val="A8BDD7"/>
                </a:solidFill>
              </a:defRPr>
            </a:lvl8pPr>
            <a:lvl9pPr>
              <a:defRPr sz="900" b="0">
                <a:solidFill>
                  <a:srgbClr val="A8BDD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A8BDD7"/>
                </a:solidFill>
              </a:defRPr>
            </a:pPr>
            <a:r>
              <a:rPr sz="900" b="0">
                <a:solidFill>
                  <a:srgbClr val="A8BDD7"/>
                </a:solidFill>
              </a:rPr>
              <a:t>NIGHTWATCH  |  SYNTHETIC DATA ONLY  |  NOT A MEDICAL DEVICE</a:t>
            </a:r>
          </a:p>
        </p:txBody>
      </p:sp>
      <p:sp>
        <p:nvSpPr>
          <p:cNvPr id="4" name="Pooled heading">
            <a:extLst xmlns:a="http://schemas.openxmlformats.org/drawingml/2006/main">
              <a:ext uri="{FF2B5EF4-FFF2-40B4-BE49-F238E27FC236}">
                <a16:creationId xmlns:a16="http://schemas.microsoft.com/office/drawing/2014/main" id="{9EAA5B4F-9D07-4FF7-BFF4-8B59D71A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BC8E8"/>
                </a:solidFill>
              </a:defRPr>
            </a:defPPr>
            <a:lvl1pPr>
              <a:defRPr sz="1275" b="1">
                <a:solidFill>
                  <a:srgbClr val="2BC8E8"/>
                </a:solidFill>
              </a:defRPr>
            </a:lvl1pPr>
            <a:lvl2pPr>
              <a:defRPr sz="1275" b="1">
                <a:solidFill>
                  <a:srgbClr val="2BC8E8"/>
                </a:solidFill>
              </a:defRPr>
            </a:lvl2pPr>
            <a:lvl3pPr>
              <a:defRPr sz="1275" b="1">
                <a:solidFill>
                  <a:srgbClr val="2BC8E8"/>
                </a:solidFill>
              </a:defRPr>
            </a:lvl3pPr>
            <a:lvl4pPr>
              <a:defRPr sz="1275" b="1">
                <a:solidFill>
                  <a:srgbClr val="2BC8E8"/>
                </a:solidFill>
              </a:defRPr>
            </a:lvl4pPr>
            <a:lvl5pPr>
              <a:defRPr sz="1275" b="1">
                <a:solidFill>
                  <a:srgbClr val="2BC8E8"/>
                </a:solidFill>
              </a:defRPr>
            </a:lvl5pPr>
            <a:lvl6pPr>
              <a:defRPr sz="1275" b="1">
                <a:solidFill>
                  <a:srgbClr val="2BC8E8"/>
                </a:solidFill>
              </a:defRPr>
            </a:lvl6pPr>
            <a:lvl7pPr>
              <a:defRPr sz="1275" b="1">
                <a:solidFill>
                  <a:srgbClr val="2BC8E8"/>
                </a:solidFill>
              </a:defRPr>
            </a:lvl7pPr>
            <a:lvl8pPr>
              <a:defRPr sz="1275" b="1">
                <a:solidFill>
                  <a:srgbClr val="2BC8E8"/>
                </a:solidFill>
              </a:defRPr>
            </a:lvl8pPr>
            <a:lvl9pPr>
              <a:defRPr sz="1275" b="1">
                <a:solidFill>
                  <a:srgbClr val="2BC8E8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BC8E8"/>
                </a:solidFill>
              </a:defRPr>
            </a:pPr>
            <a:r>
              <a:rPr sz="1275" b="1">
                <a:solidFill>
                  <a:srgbClr val="2BC8E8"/>
                </a:solidFill>
              </a:rPr>
              <a:t>POOLED OUT-OF-FOLD ROC-AUC</a:t>
            </a:r>
          </a:p>
        </p:txBody>
      </p:sp>
      <p:sp>
        <p:nvSpPr>
          <p:cNvPr id="5" name="Pooled AUC">
            <a:extLst xmlns:a="http://schemas.openxmlformats.org/drawingml/2006/main">
              <a:ext uri="{FF2B5EF4-FFF2-40B4-BE49-F238E27FC236}">
                <a16:creationId xmlns:a16="http://schemas.microsoft.com/office/drawing/2014/main" id="{6E89675D-4626-4CE9-8512-2FF49A44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5F7FB"/>
                </a:solidFill>
              </a:defRPr>
            </a:defPPr>
            <a:lvl1pPr>
              <a:defRPr sz="3600" b="1">
                <a:solidFill>
                  <a:srgbClr val="F5F7FB"/>
                </a:solidFill>
              </a:defRPr>
            </a:lvl1pPr>
            <a:lvl2pPr>
              <a:defRPr sz="3600" b="1">
                <a:solidFill>
                  <a:srgbClr val="F5F7FB"/>
                </a:solidFill>
              </a:defRPr>
            </a:lvl2pPr>
            <a:lvl3pPr>
              <a:defRPr sz="3600" b="1">
                <a:solidFill>
                  <a:srgbClr val="F5F7FB"/>
                </a:solidFill>
              </a:defRPr>
            </a:lvl3pPr>
            <a:lvl4pPr>
              <a:defRPr sz="3600" b="1">
                <a:solidFill>
                  <a:srgbClr val="F5F7FB"/>
                </a:solidFill>
              </a:defRPr>
            </a:lvl4pPr>
            <a:lvl5pPr>
              <a:defRPr sz="3600" b="1">
                <a:solidFill>
                  <a:srgbClr val="F5F7FB"/>
                </a:solidFill>
              </a:defRPr>
            </a:lvl5pPr>
            <a:lvl6pPr>
              <a:defRPr sz="3600" b="1">
                <a:solidFill>
                  <a:srgbClr val="F5F7FB"/>
                </a:solidFill>
              </a:defRPr>
            </a:lvl6pPr>
            <a:lvl7pPr>
              <a:defRPr sz="3600" b="1">
                <a:solidFill>
                  <a:srgbClr val="F5F7FB"/>
                </a:solidFill>
              </a:defRPr>
            </a:lvl7pPr>
            <a:lvl8pPr>
              <a:defRPr sz="3600" b="1">
                <a:solidFill>
                  <a:srgbClr val="F5F7FB"/>
                </a:solidFill>
              </a:defRPr>
            </a:lvl8pPr>
            <a:lvl9pPr>
              <a:defRPr sz="3600" b="1">
                <a:solidFill>
                  <a:srgbClr val="F5F7FB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7FB"/>
                </a:solidFill>
              </a:defRPr>
            </a:pPr>
            <a:r>
              <a:rPr sz="3600" b="1">
                <a:solidFill>
                  <a:srgbClr val="F5F7FB"/>
                </a:solidFill>
              </a:rPr>
              <a:t>0.7751</a:t>
            </a:r>
          </a:p>
        </p:txBody>
      </p:sp>
      <p:sp>
        <p:nvSpPr>
          <p:cNvPr id="6" name="Cluster CI">
            <a:extLst xmlns:a="http://schemas.openxmlformats.org/drawingml/2006/main">
              <a:ext uri="{FF2B5EF4-FFF2-40B4-BE49-F238E27FC236}">
                <a16:creationId xmlns:a16="http://schemas.microsoft.com/office/drawing/2014/main" id="{FAF89E9A-17BC-4FBC-AE06-1B669B60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8BDD7"/>
                </a:solidFill>
              </a:defRPr>
            </a:defPPr>
            <a:lvl1pPr>
              <a:defRPr sz="1575" b="0">
                <a:solidFill>
                  <a:srgbClr val="A8BDD7"/>
                </a:solidFill>
              </a:defRPr>
            </a:lvl1pPr>
            <a:lvl2pPr>
              <a:defRPr sz="1575" b="0">
                <a:solidFill>
                  <a:srgbClr val="A8BDD7"/>
                </a:solidFill>
              </a:defRPr>
            </a:lvl2pPr>
            <a:lvl3pPr>
              <a:defRPr sz="1575" b="0">
                <a:solidFill>
                  <a:srgbClr val="A8BDD7"/>
                </a:solidFill>
              </a:defRPr>
            </a:lvl3pPr>
            <a:lvl4pPr>
              <a:defRPr sz="1575" b="0">
                <a:solidFill>
                  <a:srgbClr val="A8BDD7"/>
                </a:solidFill>
              </a:defRPr>
            </a:lvl4pPr>
            <a:lvl5pPr>
              <a:defRPr sz="1575" b="0">
                <a:solidFill>
                  <a:srgbClr val="A8BDD7"/>
                </a:solidFill>
              </a:defRPr>
            </a:lvl5pPr>
            <a:lvl6pPr>
              <a:defRPr sz="1575" b="0">
                <a:solidFill>
                  <a:srgbClr val="A8BDD7"/>
                </a:solidFill>
              </a:defRPr>
            </a:lvl6pPr>
            <a:lvl7pPr>
              <a:defRPr sz="1575" b="0">
                <a:solidFill>
                  <a:srgbClr val="A8BDD7"/>
                </a:solidFill>
              </a:defRPr>
            </a:lvl7pPr>
            <a:lvl8pPr>
              <a:defRPr sz="1575" b="0">
                <a:solidFill>
                  <a:srgbClr val="A8BDD7"/>
                </a:solidFill>
              </a:defRPr>
            </a:lvl8pPr>
            <a:lvl9pPr>
              <a:defRPr sz="1575" b="0">
                <a:solidFill>
                  <a:srgbClr val="A8BDD7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A8BDD7"/>
                </a:solidFill>
              </a:defRPr>
            </a:pPr>
            <a:r>
              <a:rPr sz="1575" b="0">
                <a:solidFill>
                  <a:srgbClr val="A8BDD7"/>
                </a:solidFill>
              </a:rPr>
              <a:t>Patient-cluster 95% CI: 0.7338 to 0.8155</a:t>
            </a:r>
          </a:p>
        </p:txBody>
      </p:sp>
      <p:sp>
        <p:nvSpPr>
          <p:cNvPr id="7" name="Fold heading">
            <a:extLst xmlns:a="http://schemas.openxmlformats.org/drawingml/2006/main">
              <a:ext uri="{FF2B5EF4-FFF2-40B4-BE49-F238E27FC236}">
                <a16:creationId xmlns:a16="http://schemas.microsoft.com/office/drawing/2014/main" id="{36ADEAE5-F1F9-4BED-A785-74AFFFA8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481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C79FF"/>
                </a:solidFill>
              </a:defRPr>
            </a:defPPr>
            <a:lvl1pPr>
              <a:defRPr sz="1275" b="1">
                <a:solidFill>
                  <a:srgbClr val="BC79FF"/>
                </a:solidFill>
              </a:defRPr>
            </a:lvl1pPr>
            <a:lvl2pPr>
              <a:defRPr sz="1275" b="1">
                <a:solidFill>
                  <a:srgbClr val="BC79FF"/>
                </a:solidFill>
              </a:defRPr>
            </a:lvl2pPr>
            <a:lvl3pPr>
              <a:defRPr sz="1275" b="1">
                <a:solidFill>
                  <a:srgbClr val="BC79FF"/>
                </a:solidFill>
              </a:defRPr>
            </a:lvl3pPr>
            <a:lvl4pPr>
              <a:defRPr sz="1275" b="1">
                <a:solidFill>
                  <a:srgbClr val="BC79FF"/>
                </a:solidFill>
              </a:defRPr>
            </a:lvl4pPr>
            <a:lvl5pPr>
              <a:defRPr sz="1275" b="1">
                <a:solidFill>
                  <a:srgbClr val="BC79FF"/>
                </a:solidFill>
              </a:defRPr>
            </a:lvl5pPr>
            <a:lvl6pPr>
              <a:defRPr sz="1275" b="1">
                <a:solidFill>
                  <a:srgbClr val="BC79FF"/>
                </a:solidFill>
              </a:defRPr>
            </a:lvl6pPr>
            <a:lvl7pPr>
              <a:defRPr sz="1275" b="1">
                <a:solidFill>
                  <a:srgbClr val="BC79FF"/>
                </a:solidFill>
              </a:defRPr>
            </a:lvl7pPr>
            <a:lvl8pPr>
              <a:defRPr sz="1275" b="1">
                <a:solidFill>
                  <a:srgbClr val="BC79FF"/>
                </a:solidFill>
              </a:defRPr>
            </a:lvl8pPr>
            <a:lvl9pPr>
              <a:defRPr sz="1275" b="1">
                <a:solidFill>
                  <a:srgbClr val="BC79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BC79FF"/>
                </a:solidFill>
              </a:defRPr>
            </a:pPr>
            <a:r>
              <a:rPr sz="1275" b="1">
                <a:solidFill>
                  <a:srgbClr val="BC79FF"/>
                </a:solidFill>
              </a:rPr>
              <a:t>FIVE-FOLD MEAN ROC-AUC</a:t>
            </a:r>
          </a:p>
        </p:txBody>
      </p:sp>
      <p:sp>
        <p:nvSpPr>
          <p:cNvPr id="8" name="Fold mean">
            <a:extLst xmlns:a="http://schemas.openxmlformats.org/drawingml/2006/main">
              <a:ext uri="{FF2B5EF4-FFF2-40B4-BE49-F238E27FC236}">
                <a16:creationId xmlns:a16="http://schemas.microsoft.com/office/drawing/2014/main" id="{AA2F7A3E-915E-4C02-A38D-462747EA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09800"/>
            <a:ext cx="481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5F7FB"/>
                </a:solidFill>
              </a:defRPr>
            </a:defPPr>
            <a:lvl1pPr>
              <a:defRPr sz="2850" b="1">
                <a:solidFill>
                  <a:srgbClr val="F5F7FB"/>
                </a:solidFill>
              </a:defRPr>
            </a:lvl1pPr>
            <a:lvl2pPr>
              <a:defRPr sz="2850" b="1">
                <a:solidFill>
                  <a:srgbClr val="F5F7FB"/>
                </a:solidFill>
              </a:defRPr>
            </a:lvl2pPr>
            <a:lvl3pPr>
              <a:defRPr sz="2850" b="1">
                <a:solidFill>
                  <a:srgbClr val="F5F7FB"/>
                </a:solidFill>
              </a:defRPr>
            </a:lvl3pPr>
            <a:lvl4pPr>
              <a:defRPr sz="2850" b="1">
                <a:solidFill>
                  <a:srgbClr val="F5F7FB"/>
                </a:solidFill>
              </a:defRPr>
            </a:lvl4pPr>
            <a:lvl5pPr>
              <a:defRPr sz="2850" b="1">
                <a:solidFill>
                  <a:srgbClr val="F5F7FB"/>
                </a:solidFill>
              </a:defRPr>
            </a:lvl5pPr>
            <a:lvl6pPr>
              <a:defRPr sz="2850" b="1">
                <a:solidFill>
                  <a:srgbClr val="F5F7FB"/>
                </a:solidFill>
              </a:defRPr>
            </a:lvl6pPr>
            <a:lvl7pPr>
              <a:defRPr sz="2850" b="1">
                <a:solidFill>
                  <a:srgbClr val="F5F7FB"/>
                </a:solidFill>
              </a:defRPr>
            </a:lvl7pPr>
            <a:lvl8pPr>
              <a:defRPr sz="2850" b="1">
                <a:solidFill>
                  <a:srgbClr val="F5F7FB"/>
                </a:solidFill>
              </a:defRPr>
            </a:lvl8pPr>
            <a:lvl9pPr>
              <a:defRPr sz="2850" b="1">
                <a:solidFill>
                  <a:srgbClr val="F5F7F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5F7FB"/>
                </a:solidFill>
              </a:defRPr>
            </a:pPr>
            <a:r>
              <a:rPr sz="2850" b="1">
                <a:solidFill>
                  <a:srgbClr val="F5F7FB"/>
                </a:solidFill>
              </a:rPr>
              <a:t>0.8143 +/- 0.0283</a:t>
            </a:r>
          </a:p>
        </p:txBody>
      </p:sp>
      <p:sp>
        <p:nvSpPr>
          <p:cNvPr id="9" name="Metric distinction">
            <a:extLst xmlns:a="http://schemas.openxmlformats.org/drawingml/2006/main">
              <a:ext uri="{FF2B5EF4-FFF2-40B4-BE49-F238E27FC236}">
                <a16:creationId xmlns:a16="http://schemas.microsoft.com/office/drawing/2014/main" id="{D1726AA3-3638-4E05-A3ED-25EC6A4F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76550"/>
            <a:ext cx="481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8BDD7"/>
                </a:solidFill>
              </a:defRPr>
            </a:defPPr>
            <a:lvl1pPr>
              <a:defRPr sz="1350" b="0">
                <a:solidFill>
                  <a:srgbClr val="A8BDD7"/>
                </a:solidFill>
              </a:defRPr>
            </a:lvl1pPr>
            <a:lvl2pPr>
              <a:defRPr sz="1350" b="0">
                <a:solidFill>
                  <a:srgbClr val="A8BDD7"/>
                </a:solidFill>
              </a:defRPr>
            </a:lvl2pPr>
            <a:lvl3pPr>
              <a:defRPr sz="1350" b="0">
                <a:solidFill>
                  <a:srgbClr val="A8BDD7"/>
                </a:solidFill>
              </a:defRPr>
            </a:lvl3pPr>
            <a:lvl4pPr>
              <a:defRPr sz="1350" b="0">
                <a:solidFill>
                  <a:srgbClr val="A8BDD7"/>
                </a:solidFill>
              </a:defRPr>
            </a:lvl4pPr>
            <a:lvl5pPr>
              <a:defRPr sz="1350" b="0">
                <a:solidFill>
                  <a:srgbClr val="A8BDD7"/>
                </a:solidFill>
              </a:defRPr>
            </a:lvl5pPr>
            <a:lvl6pPr>
              <a:defRPr sz="1350" b="0">
                <a:solidFill>
                  <a:srgbClr val="A8BDD7"/>
                </a:solidFill>
              </a:defRPr>
            </a:lvl6pPr>
            <a:lvl7pPr>
              <a:defRPr sz="1350" b="0">
                <a:solidFill>
                  <a:srgbClr val="A8BDD7"/>
                </a:solidFill>
              </a:defRPr>
            </a:lvl7pPr>
            <a:lvl8pPr>
              <a:defRPr sz="1350" b="0">
                <a:solidFill>
                  <a:srgbClr val="A8BDD7"/>
                </a:solidFill>
              </a:defRPr>
            </a:lvl8pPr>
            <a:lvl9pPr>
              <a:defRPr sz="1350" b="0">
                <a:solidFill>
                  <a:srgbClr val="A8BDD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8BDD7"/>
                </a:solidFill>
              </a:defRPr>
            </a:pPr>
            <a:r>
              <a:rPr sz="1350" b="0">
                <a:solidFill>
                  <a:srgbClr val="A8BDD7"/>
                </a:solidFill>
              </a:rPr>
              <a:t>A separate quantity from pooled out-of-fold AUC</a:t>
            </a:r>
          </a:p>
        </p:txBody>
      </p:sp>
      <p:sp>
        <p:nvSpPr>
          <p:cNvPr id="10" name="PRAUC heading">
            <a:extLst xmlns:a="http://schemas.openxmlformats.org/drawingml/2006/main">
              <a:ext uri="{FF2B5EF4-FFF2-40B4-BE49-F238E27FC236}">
                <a16:creationId xmlns:a16="http://schemas.microsoft.com/office/drawing/2014/main" id="{0F35F6C3-D938-4007-B729-00A52A3A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2D6A4"/>
                </a:solidFill>
              </a:defRPr>
            </a:defPPr>
            <a:lvl1pPr>
              <a:defRPr sz="1275" b="1">
                <a:solidFill>
                  <a:srgbClr val="42D6A4"/>
                </a:solidFill>
              </a:defRPr>
            </a:lvl1pPr>
            <a:lvl2pPr>
              <a:defRPr sz="1275" b="1">
                <a:solidFill>
                  <a:srgbClr val="42D6A4"/>
                </a:solidFill>
              </a:defRPr>
            </a:lvl2pPr>
            <a:lvl3pPr>
              <a:defRPr sz="1275" b="1">
                <a:solidFill>
                  <a:srgbClr val="42D6A4"/>
                </a:solidFill>
              </a:defRPr>
            </a:lvl3pPr>
            <a:lvl4pPr>
              <a:defRPr sz="1275" b="1">
                <a:solidFill>
                  <a:srgbClr val="42D6A4"/>
                </a:solidFill>
              </a:defRPr>
            </a:lvl4pPr>
            <a:lvl5pPr>
              <a:defRPr sz="1275" b="1">
                <a:solidFill>
                  <a:srgbClr val="42D6A4"/>
                </a:solidFill>
              </a:defRPr>
            </a:lvl5pPr>
            <a:lvl6pPr>
              <a:defRPr sz="1275" b="1">
                <a:solidFill>
                  <a:srgbClr val="42D6A4"/>
                </a:solidFill>
              </a:defRPr>
            </a:lvl6pPr>
            <a:lvl7pPr>
              <a:defRPr sz="1275" b="1">
                <a:solidFill>
                  <a:srgbClr val="42D6A4"/>
                </a:solidFill>
              </a:defRPr>
            </a:lvl7pPr>
            <a:lvl8pPr>
              <a:defRPr sz="1275" b="1">
                <a:solidFill>
                  <a:srgbClr val="42D6A4"/>
                </a:solidFill>
              </a:defRPr>
            </a:lvl8pPr>
            <a:lvl9pPr>
              <a:defRPr sz="1275" b="1">
                <a:solidFill>
                  <a:srgbClr val="42D6A4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2D6A4"/>
                </a:solidFill>
              </a:defRPr>
            </a:pPr>
            <a:r>
              <a:rPr sz="1275" b="1">
                <a:solidFill>
                  <a:srgbClr val="42D6A4"/>
                </a:solidFill>
              </a:rPr>
              <a:t>POOLED OUT-OF-FOLD PR-AUC</a:t>
            </a:r>
          </a:p>
        </p:txBody>
      </p:sp>
      <p:sp>
        <p:nvSpPr>
          <p:cNvPr id="11" name="PRAUC value">
            <a:extLst xmlns:a="http://schemas.openxmlformats.org/drawingml/2006/main">
              <a:ext uri="{FF2B5EF4-FFF2-40B4-BE49-F238E27FC236}">
                <a16:creationId xmlns:a16="http://schemas.microsoft.com/office/drawing/2014/main" id="{F84699CB-C224-4C09-AD1B-24EFCA75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862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F5F7FB"/>
                </a:solidFill>
              </a:defRPr>
            </a:defPPr>
            <a:lvl1pPr>
              <a:defRPr sz="2700" b="1">
                <a:solidFill>
                  <a:srgbClr val="F5F7FB"/>
                </a:solidFill>
              </a:defRPr>
            </a:lvl1pPr>
            <a:lvl2pPr>
              <a:defRPr sz="2700" b="1">
                <a:solidFill>
                  <a:srgbClr val="F5F7FB"/>
                </a:solidFill>
              </a:defRPr>
            </a:lvl2pPr>
            <a:lvl3pPr>
              <a:defRPr sz="2700" b="1">
                <a:solidFill>
                  <a:srgbClr val="F5F7FB"/>
                </a:solidFill>
              </a:defRPr>
            </a:lvl3pPr>
            <a:lvl4pPr>
              <a:defRPr sz="2700" b="1">
                <a:solidFill>
                  <a:srgbClr val="F5F7FB"/>
                </a:solidFill>
              </a:defRPr>
            </a:lvl4pPr>
            <a:lvl5pPr>
              <a:defRPr sz="2700" b="1">
                <a:solidFill>
                  <a:srgbClr val="F5F7FB"/>
                </a:solidFill>
              </a:defRPr>
            </a:lvl5pPr>
            <a:lvl6pPr>
              <a:defRPr sz="2700" b="1">
                <a:solidFill>
                  <a:srgbClr val="F5F7FB"/>
                </a:solidFill>
              </a:defRPr>
            </a:lvl6pPr>
            <a:lvl7pPr>
              <a:defRPr sz="2700" b="1">
                <a:solidFill>
                  <a:srgbClr val="F5F7FB"/>
                </a:solidFill>
              </a:defRPr>
            </a:lvl7pPr>
            <a:lvl8pPr>
              <a:defRPr sz="2700" b="1">
                <a:solidFill>
                  <a:srgbClr val="F5F7FB"/>
                </a:solidFill>
              </a:defRPr>
            </a:lvl8pPr>
            <a:lvl9pPr>
              <a:defRPr sz="2700" b="1">
                <a:solidFill>
                  <a:srgbClr val="F5F7FB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5F7FB"/>
                </a:solidFill>
              </a:defRPr>
            </a:pPr>
            <a:r>
              <a:rPr sz="2700" b="1">
                <a:solidFill>
                  <a:srgbClr val="F5F7FB"/>
                </a:solidFill>
              </a:rPr>
              <a:t>0.5194</a:t>
            </a:r>
          </a:p>
        </p:txBody>
      </p:sp>
      <p:sp>
        <p:nvSpPr>
          <p:cNvPr id="12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4E21A0DE-491E-4517-BF0D-78E1AF55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4812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FB84A"/>
                </a:solidFill>
              </a:defRPr>
            </a:defPPr>
            <a:lvl1pPr>
              <a:defRPr sz="1650" b="0">
                <a:solidFill>
                  <a:srgbClr val="FFB84A"/>
                </a:solidFill>
              </a:defRPr>
            </a:lvl1pPr>
            <a:lvl2pPr>
              <a:defRPr sz="1650" b="0">
                <a:solidFill>
                  <a:srgbClr val="FFB84A"/>
                </a:solidFill>
              </a:defRPr>
            </a:lvl2pPr>
            <a:lvl3pPr>
              <a:defRPr sz="1650" b="0">
                <a:solidFill>
                  <a:srgbClr val="FFB84A"/>
                </a:solidFill>
              </a:defRPr>
            </a:lvl3pPr>
            <a:lvl4pPr>
              <a:defRPr sz="1650" b="0">
                <a:solidFill>
                  <a:srgbClr val="FFB84A"/>
                </a:solidFill>
              </a:defRPr>
            </a:lvl4pPr>
            <a:lvl5pPr>
              <a:defRPr sz="1650" b="0">
                <a:solidFill>
                  <a:srgbClr val="FFB84A"/>
                </a:solidFill>
              </a:defRPr>
            </a:lvl5pPr>
            <a:lvl6pPr>
              <a:defRPr sz="1650" b="0">
                <a:solidFill>
                  <a:srgbClr val="FFB84A"/>
                </a:solidFill>
              </a:defRPr>
            </a:lvl6pPr>
            <a:lvl7pPr>
              <a:defRPr sz="1650" b="0">
                <a:solidFill>
                  <a:srgbClr val="FFB84A"/>
                </a:solidFill>
              </a:defRPr>
            </a:lvl7pPr>
            <a:lvl8pPr>
              <a:defRPr sz="1650" b="0">
                <a:solidFill>
                  <a:srgbClr val="FFB84A"/>
                </a:solidFill>
              </a:defRPr>
            </a:lvl8pPr>
            <a:lvl9pPr>
              <a:defRPr sz="1650" b="0">
                <a:solidFill>
                  <a:srgbClr val="FFB84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B84A"/>
                </a:solidFill>
              </a:defRPr>
            </a:pPr>
            <a:r>
              <a:rPr sz="1650" b="0">
                <a:solidFill>
                  <a:srgbClr val="FFB84A"/>
                </a:solidFill>
              </a:rPr>
              <a:t>These results are measured on synthetic data. They are not external validation and do not establish clinical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16776098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2FADBDCD-23F0-4799-B306-FB43F6E0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BC8E8"/>
                </a:solidFill>
              </a:defRPr>
            </a:defPPr>
            <a:lvl1pPr>
              <a:defRPr sz="1200" b="1">
                <a:solidFill>
                  <a:srgbClr val="2BC8E8"/>
                </a:solidFill>
              </a:defRPr>
            </a:lvl1pPr>
            <a:lvl2pPr>
              <a:defRPr sz="1200" b="1">
                <a:solidFill>
                  <a:srgbClr val="2BC8E8"/>
                </a:solidFill>
              </a:defRPr>
            </a:lvl2pPr>
            <a:lvl3pPr>
              <a:defRPr sz="1200" b="1">
                <a:solidFill>
                  <a:srgbClr val="2BC8E8"/>
                </a:solidFill>
              </a:defRPr>
            </a:lvl3pPr>
            <a:lvl4pPr>
              <a:defRPr sz="1200" b="1">
                <a:solidFill>
                  <a:srgbClr val="2BC8E8"/>
                </a:solidFill>
              </a:defRPr>
            </a:lvl4pPr>
            <a:lvl5pPr>
              <a:defRPr sz="1200" b="1">
                <a:solidFill>
                  <a:srgbClr val="2BC8E8"/>
                </a:solidFill>
              </a:defRPr>
            </a:lvl5pPr>
            <a:lvl6pPr>
              <a:defRPr sz="1200" b="1">
                <a:solidFill>
                  <a:srgbClr val="2BC8E8"/>
                </a:solidFill>
              </a:defRPr>
            </a:lvl6pPr>
            <a:lvl7pPr>
              <a:defRPr sz="1200" b="1">
                <a:solidFill>
                  <a:srgbClr val="2BC8E8"/>
                </a:solidFill>
              </a:defRPr>
            </a:lvl7pPr>
            <a:lvl8pPr>
              <a:defRPr sz="1200" b="1">
                <a:solidFill>
                  <a:srgbClr val="2BC8E8"/>
                </a:solidFill>
              </a:defRPr>
            </a:lvl8pPr>
            <a:lvl9pPr>
              <a:defRPr sz="1200" b="1">
                <a:solidFill>
                  <a:srgbClr val="2BC8E8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BC8E8"/>
                </a:solidFill>
              </a:defRPr>
            </a:pPr>
            <a:r>
              <a:rPr sz="1200" b="1">
                <a:solidFill>
                  <a:srgbClr val="2BC8E8"/>
                </a:solidFill>
              </a:rPr>
              <a:t>05  /  HELD-OUT TEST COUNTS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65F3C7F-702C-463C-811C-D32B69C7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5F7FB"/>
                </a:solidFill>
              </a:defRPr>
            </a:defPPr>
            <a:lvl1pPr>
              <a:defRPr sz="2550" b="1">
                <a:solidFill>
                  <a:srgbClr val="F5F7FB"/>
                </a:solidFill>
              </a:defRPr>
            </a:lvl1pPr>
            <a:lvl2pPr>
              <a:defRPr sz="2550" b="1">
                <a:solidFill>
                  <a:srgbClr val="F5F7FB"/>
                </a:solidFill>
              </a:defRPr>
            </a:lvl2pPr>
            <a:lvl3pPr>
              <a:defRPr sz="2550" b="1">
                <a:solidFill>
                  <a:srgbClr val="F5F7FB"/>
                </a:solidFill>
              </a:defRPr>
            </a:lvl3pPr>
            <a:lvl4pPr>
              <a:defRPr sz="2550" b="1">
                <a:solidFill>
                  <a:srgbClr val="F5F7FB"/>
                </a:solidFill>
              </a:defRPr>
            </a:lvl4pPr>
            <a:lvl5pPr>
              <a:defRPr sz="2550" b="1">
                <a:solidFill>
                  <a:srgbClr val="F5F7FB"/>
                </a:solidFill>
              </a:defRPr>
            </a:lvl5pPr>
            <a:lvl6pPr>
              <a:defRPr sz="2550" b="1">
                <a:solidFill>
                  <a:srgbClr val="F5F7FB"/>
                </a:solidFill>
              </a:defRPr>
            </a:lvl6pPr>
            <a:lvl7pPr>
              <a:defRPr sz="2550" b="1">
                <a:solidFill>
                  <a:srgbClr val="F5F7FB"/>
                </a:solidFill>
              </a:defRPr>
            </a:lvl7pPr>
            <a:lvl8pPr>
              <a:defRPr sz="2550" b="1">
                <a:solidFill>
                  <a:srgbClr val="F5F7FB"/>
                </a:solidFill>
              </a:defRPr>
            </a:lvl8pPr>
            <a:lvl9pPr>
              <a:defRPr sz="2550" b="1">
                <a:solidFill>
                  <a:srgbClr val="F5F7FB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7FB"/>
                </a:solidFill>
              </a:defRPr>
            </a:pPr>
            <a:r>
              <a:rPr sz="2550" b="1">
                <a:solidFill>
                  <a:srgbClr val="F5F7FB"/>
                </a:solidFill>
              </a:rPr>
              <a:t>Threshold operating points</a:t>
            </a:r>
          </a:p>
        </p:txBody>
      </p:sp>
      <p:sp>
        <p:nvSpPr>
          <p:cNvPr id="3" name="Safety footer">
            <a:extLst xmlns:a="http://schemas.openxmlformats.org/drawingml/2006/main">
              <a:ext uri="{FF2B5EF4-FFF2-40B4-BE49-F238E27FC236}">
                <a16:creationId xmlns:a16="http://schemas.microsoft.com/office/drawing/2014/main" id="{03B78A83-FBD6-48E4-AB77-7F0D2D03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8BDD7"/>
                </a:solidFill>
              </a:defRPr>
            </a:defPPr>
            <a:lvl1pPr>
              <a:defRPr sz="900" b="0">
                <a:solidFill>
                  <a:srgbClr val="A8BDD7"/>
                </a:solidFill>
              </a:defRPr>
            </a:lvl1pPr>
            <a:lvl2pPr>
              <a:defRPr sz="900" b="0">
                <a:solidFill>
                  <a:srgbClr val="A8BDD7"/>
                </a:solidFill>
              </a:defRPr>
            </a:lvl2pPr>
            <a:lvl3pPr>
              <a:defRPr sz="900" b="0">
                <a:solidFill>
                  <a:srgbClr val="A8BDD7"/>
                </a:solidFill>
              </a:defRPr>
            </a:lvl3pPr>
            <a:lvl4pPr>
              <a:defRPr sz="900" b="0">
                <a:solidFill>
                  <a:srgbClr val="A8BDD7"/>
                </a:solidFill>
              </a:defRPr>
            </a:lvl4pPr>
            <a:lvl5pPr>
              <a:defRPr sz="900" b="0">
                <a:solidFill>
                  <a:srgbClr val="A8BDD7"/>
                </a:solidFill>
              </a:defRPr>
            </a:lvl5pPr>
            <a:lvl6pPr>
              <a:defRPr sz="900" b="0">
                <a:solidFill>
                  <a:srgbClr val="A8BDD7"/>
                </a:solidFill>
              </a:defRPr>
            </a:lvl6pPr>
            <a:lvl7pPr>
              <a:defRPr sz="900" b="0">
                <a:solidFill>
                  <a:srgbClr val="A8BDD7"/>
                </a:solidFill>
              </a:defRPr>
            </a:lvl7pPr>
            <a:lvl8pPr>
              <a:defRPr sz="900" b="0">
                <a:solidFill>
                  <a:srgbClr val="A8BDD7"/>
                </a:solidFill>
              </a:defRPr>
            </a:lvl8pPr>
            <a:lvl9pPr>
              <a:defRPr sz="900" b="0">
                <a:solidFill>
                  <a:srgbClr val="A8BDD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A8BDD7"/>
                </a:solidFill>
              </a:defRPr>
            </a:pPr>
            <a:r>
              <a:rPr sz="900" b="0">
                <a:solidFill>
                  <a:srgbClr val="A8BDD7"/>
                </a:solidFill>
              </a:rPr>
              <a:t>NIGHTWATCH  |  SYNTHETIC DATA ONLY  |  NOT A MEDICAL DEVICE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4CC92-2C1B-4277-8A53-D30213100DE2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000125"/>
                <a:gridCol w="1381125"/>
                <a:gridCol w="1381125"/>
                <a:gridCol w="1381125"/>
                <a:gridCol w="2095500"/>
                <a:gridCol w="2190750"/>
              </a:tblGrid>
              <a:tr h="603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C8E8"/>
                          </a:solidFill>
                        </a:rPr>
                        <a:t>Operating point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4445D"/>
                      </a:solidFill>
                      <a:prstDash val="solid"/>
                    </a:lnL>
                    <a:lnR w="9525">
                      <a:solidFill>
                        <a:srgbClr val="34445D"/>
                      </a:solidFill>
                      <a:prstDash val="solid"/>
                    </a:lnR>
                    <a:lnT w="9525">
                      <a:solidFill>
                        <a:srgbClr val="34445D"/>
                      </a:solidFill>
                      <a:prstDash val="solid"/>
                    </a:lnT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19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C8E8"/>
                          </a:solidFill>
                        </a:rPr>
                        <a:t>Threshold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T w="9525">
                      <a:solidFill>
                        <a:srgbClr val="34445D"/>
                      </a:solidFill>
                      <a:prstDash val="solid"/>
                    </a:lnT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19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C8E8"/>
                          </a:solidFill>
                        </a:rPr>
                        <a:t>Sensitivity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T w="9525">
                      <a:solidFill>
                        <a:srgbClr val="34445D"/>
                      </a:solidFill>
                      <a:prstDash val="solid"/>
                    </a:lnT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19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C8E8"/>
                          </a:solidFill>
                        </a:rPr>
                        <a:t>Specificity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T w="9525">
                      <a:solidFill>
                        <a:srgbClr val="34445D"/>
                      </a:solidFill>
                      <a:prstDash val="solid"/>
                    </a:lnT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19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C8E8"/>
                          </a:solidFill>
                        </a:rPr>
                        <a:t>Precision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T w="9525">
                      <a:solidFill>
                        <a:srgbClr val="34445D"/>
                      </a:solidFill>
                      <a:prstDash val="solid"/>
                    </a:lnT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19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C8E8"/>
                          </a:solidFill>
                        </a:rPr>
                        <a:t>False alerts / patient-week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T w="9525">
                      <a:solidFill>
                        <a:srgbClr val="34445D"/>
                      </a:solidFill>
                      <a:prstDash val="solid"/>
                    </a:lnT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19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C8E8"/>
                          </a:solidFill>
                        </a:rPr>
                        <a:t>TP / FP / TN / FN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T w="9525">
                      <a:solidFill>
                        <a:srgbClr val="34445D"/>
                      </a:solidFill>
                      <a:prstDash val="solid"/>
                    </a:lnT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19304A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7FB"/>
                          </a:solidFill>
                        </a:rPr>
                        <a:t>Moderate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4445D"/>
                      </a:solidFill>
                      <a:prstDash val="solid"/>
                    </a:lnL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7FB"/>
                          </a:solidFill>
                        </a:rPr>
                        <a:t>0.34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7FB"/>
                          </a:solidFill>
                        </a:rPr>
                        <a:t>69.9%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7FB"/>
                          </a:solidFill>
                        </a:rPr>
                        <a:t>70.4%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7FB"/>
                          </a:solidFill>
                        </a:rPr>
                        <a:t>42.5%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7FB"/>
                          </a:solidFill>
                        </a:rPr>
                        <a:t>1.580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7FB"/>
                          </a:solidFill>
                        </a:rPr>
                        <a:t>525 / 711 / 1688 / 226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7FB"/>
                          </a:solidFill>
                        </a:rPr>
                        <a:t>High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4445D"/>
                      </a:solidFill>
                      <a:prstDash val="solid"/>
                    </a:lnL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7FB"/>
                          </a:solidFill>
                        </a:rPr>
                        <a:t>0.47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7FB"/>
                          </a:solidFill>
                        </a:rPr>
                        <a:t>36.8%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7FB"/>
                          </a:solidFill>
                        </a:rPr>
                        <a:t>91.7%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7FB"/>
                          </a:solidFill>
                        </a:rPr>
                        <a:t>58.0%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7FB"/>
                          </a:solidFill>
                        </a:rPr>
                        <a:t>0.444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7FB"/>
                          </a:solidFill>
                        </a:rPr>
                        <a:t>276 / 200 / 2199 / 475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</a:tr>
            </a:tbl>
          </a:graphicData>
        </a:graphic>
      </p:graphicFrame>
      <p:sp>
        <p:nvSpPr>
          <p:cNvPr id="5" name="Ablation heading">
            <a:extLst xmlns:a="http://schemas.openxmlformats.org/drawingml/2006/main">
              <a:ext uri="{FF2B5EF4-FFF2-40B4-BE49-F238E27FC236}">
                <a16:creationId xmlns:a16="http://schemas.microsoft.com/office/drawing/2014/main" id="{A1A803AE-E1A4-4F10-AA9B-72AB59CE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BC8E8"/>
                </a:solidFill>
              </a:defRPr>
            </a:defPPr>
            <a:lvl1pPr>
              <a:defRPr sz="1200" b="1">
                <a:solidFill>
                  <a:srgbClr val="2BC8E8"/>
                </a:solidFill>
              </a:defRPr>
            </a:lvl1pPr>
            <a:lvl2pPr>
              <a:defRPr sz="1200" b="1">
                <a:solidFill>
                  <a:srgbClr val="2BC8E8"/>
                </a:solidFill>
              </a:defRPr>
            </a:lvl2pPr>
            <a:lvl3pPr>
              <a:defRPr sz="1200" b="1">
                <a:solidFill>
                  <a:srgbClr val="2BC8E8"/>
                </a:solidFill>
              </a:defRPr>
            </a:lvl3pPr>
            <a:lvl4pPr>
              <a:defRPr sz="1200" b="1">
                <a:solidFill>
                  <a:srgbClr val="2BC8E8"/>
                </a:solidFill>
              </a:defRPr>
            </a:lvl4pPr>
            <a:lvl5pPr>
              <a:defRPr sz="1200" b="1">
                <a:solidFill>
                  <a:srgbClr val="2BC8E8"/>
                </a:solidFill>
              </a:defRPr>
            </a:lvl5pPr>
            <a:lvl6pPr>
              <a:defRPr sz="1200" b="1">
                <a:solidFill>
                  <a:srgbClr val="2BC8E8"/>
                </a:solidFill>
              </a:defRPr>
            </a:lvl6pPr>
            <a:lvl7pPr>
              <a:defRPr sz="1200" b="1">
                <a:solidFill>
                  <a:srgbClr val="2BC8E8"/>
                </a:solidFill>
              </a:defRPr>
            </a:lvl7pPr>
            <a:lvl8pPr>
              <a:defRPr sz="1200" b="1">
                <a:solidFill>
                  <a:srgbClr val="2BC8E8"/>
                </a:solidFill>
              </a:defRPr>
            </a:lvl8pPr>
            <a:lvl9pPr>
              <a:defRPr sz="1200" b="1">
                <a:solidFill>
                  <a:srgbClr val="2BC8E8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BC8E8"/>
                </a:solidFill>
              </a:defRPr>
            </a:pPr>
            <a:r>
              <a:rPr sz="1200" b="1">
                <a:solidFill>
                  <a:srgbClr val="2BC8E8"/>
                </a:solidFill>
              </a:rPr>
              <a:t>FEATURE ABLATION  /  FOLD-MEAN PAIRED ROC-AUC DIFFERENCE +/- SD</a:t>
            </a:r>
          </a:p>
        </p:txBody>
      </p:sp>
      <p:sp>
        <p:nvSpPr>
          <p:cNvPr id="6" name="Ablation rows">
            <a:extLst xmlns:a="http://schemas.openxmlformats.org/drawingml/2006/main">
              <a:ext uri="{FF2B5EF4-FFF2-40B4-BE49-F238E27FC236}">
                <a16:creationId xmlns:a16="http://schemas.microsoft.com/office/drawing/2014/main" id="{56FB0A1E-C7A3-4745-8E25-4B60728E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5F7FB"/>
                </a:solidFill>
              </a:defRPr>
            </a:defPPr>
            <a:lvl1pPr>
              <a:defRPr sz="1350" b="0">
                <a:solidFill>
                  <a:srgbClr val="F5F7FB"/>
                </a:solidFill>
              </a:defRPr>
            </a:lvl1pPr>
            <a:lvl2pPr>
              <a:defRPr sz="1350" b="0">
                <a:solidFill>
                  <a:srgbClr val="F5F7FB"/>
                </a:solidFill>
              </a:defRPr>
            </a:lvl2pPr>
            <a:lvl3pPr>
              <a:defRPr sz="1350" b="0">
                <a:solidFill>
                  <a:srgbClr val="F5F7FB"/>
                </a:solidFill>
              </a:defRPr>
            </a:lvl3pPr>
            <a:lvl4pPr>
              <a:defRPr sz="1350" b="0">
                <a:solidFill>
                  <a:srgbClr val="F5F7FB"/>
                </a:solidFill>
              </a:defRPr>
            </a:lvl4pPr>
            <a:lvl5pPr>
              <a:defRPr sz="1350" b="0">
                <a:solidFill>
                  <a:srgbClr val="F5F7FB"/>
                </a:solidFill>
              </a:defRPr>
            </a:lvl5pPr>
            <a:lvl6pPr>
              <a:defRPr sz="1350" b="0">
                <a:solidFill>
                  <a:srgbClr val="F5F7FB"/>
                </a:solidFill>
              </a:defRPr>
            </a:lvl6pPr>
            <a:lvl7pPr>
              <a:defRPr sz="1350" b="0">
                <a:solidFill>
                  <a:srgbClr val="F5F7FB"/>
                </a:solidFill>
              </a:defRPr>
            </a:lvl7pPr>
            <a:lvl8pPr>
              <a:defRPr sz="1350" b="0">
                <a:solidFill>
                  <a:srgbClr val="F5F7FB"/>
                </a:solidFill>
              </a:defRPr>
            </a:lvl8pPr>
            <a:lvl9pPr>
              <a:defRPr sz="1350" b="0">
                <a:solidFill>
                  <a:srgbClr val="F5F7F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5F7FB"/>
                </a:solidFill>
              </a:defRPr>
            </a:pPr>
            <a:r>
              <a:rPr sz="1350" b="0">
                <a:solidFill>
                  <a:srgbClr val="F5F7FB"/>
                </a:solidFill>
              </a:rPr>
              <a:t>Tier 2 (EHR+BP) vs Tier 1 (EHR): +0.1671 +/- 0.0405; wins 5/5</a:t>
            </a:r>
          </a:p>
          <a:p xmlns:a="http://schemas.openxmlformats.org/drawingml/2006/main">
            <a:pPr>
              <a:defRPr sz="1350" b="0">
                <a:solidFill>
                  <a:srgbClr val="F5F7FB"/>
                </a:solidFill>
              </a:defRPr>
            </a:pPr>
            <a:r>
              <a:rPr sz="1350" b="0">
                <a:solidFill>
                  <a:srgbClr val="F5F7FB"/>
                </a:solidFill>
              </a:rPr>
              <a:t>Tier 3 (+Sleep/HRV) vs Tier 2 (EHR+BP): +0.0035 +/- 0.0093; wins 3/5</a:t>
            </a:r>
          </a:p>
          <a:p xmlns:a="http://schemas.openxmlformats.org/drawingml/2006/main">
            <a:pPr>
              <a:defRPr sz="1350" b="0">
                <a:solidFill>
                  <a:srgbClr val="F5F7FB"/>
                </a:solidFill>
              </a:defRPr>
            </a:pPr>
            <a:r>
              <a:rPr sz="1350" b="0">
                <a:solidFill>
                  <a:srgbClr val="F5F7FB"/>
                </a:solidFill>
              </a:rPr>
              <a:t>Tier 4 (Full Twin) vs Tier 3 (+Sleep/HRV): -0.0016 +/- 0.0039; wins 2/5</a:t>
            </a:r>
          </a:p>
        </p:txBody>
      </p:sp>
    </p:spTree>
    <p:extLst>
      <p:ext uri="{BB962C8B-B14F-4D97-AF65-F5344CB8AC3E}">
        <p14:creationId xmlns:p14="http://schemas.microsoft.com/office/powerpoint/2010/main" val="1735886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B0BAC90E-24F3-4EF6-B11D-124249D8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BC8E8"/>
                </a:solidFill>
              </a:defRPr>
            </a:defPPr>
            <a:lvl1pPr>
              <a:defRPr sz="1200" b="1">
                <a:solidFill>
                  <a:srgbClr val="2BC8E8"/>
                </a:solidFill>
              </a:defRPr>
            </a:lvl1pPr>
            <a:lvl2pPr>
              <a:defRPr sz="1200" b="1">
                <a:solidFill>
                  <a:srgbClr val="2BC8E8"/>
                </a:solidFill>
              </a:defRPr>
            </a:lvl2pPr>
            <a:lvl3pPr>
              <a:defRPr sz="1200" b="1">
                <a:solidFill>
                  <a:srgbClr val="2BC8E8"/>
                </a:solidFill>
              </a:defRPr>
            </a:lvl3pPr>
            <a:lvl4pPr>
              <a:defRPr sz="1200" b="1">
                <a:solidFill>
                  <a:srgbClr val="2BC8E8"/>
                </a:solidFill>
              </a:defRPr>
            </a:lvl4pPr>
            <a:lvl5pPr>
              <a:defRPr sz="1200" b="1">
                <a:solidFill>
                  <a:srgbClr val="2BC8E8"/>
                </a:solidFill>
              </a:defRPr>
            </a:lvl5pPr>
            <a:lvl6pPr>
              <a:defRPr sz="1200" b="1">
                <a:solidFill>
                  <a:srgbClr val="2BC8E8"/>
                </a:solidFill>
              </a:defRPr>
            </a:lvl6pPr>
            <a:lvl7pPr>
              <a:defRPr sz="1200" b="1">
                <a:solidFill>
                  <a:srgbClr val="2BC8E8"/>
                </a:solidFill>
              </a:defRPr>
            </a:lvl7pPr>
            <a:lvl8pPr>
              <a:defRPr sz="1200" b="1">
                <a:solidFill>
                  <a:srgbClr val="2BC8E8"/>
                </a:solidFill>
              </a:defRPr>
            </a:lvl8pPr>
            <a:lvl9pPr>
              <a:defRPr sz="1200" b="1">
                <a:solidFill>
                  <a:srgbClr val="2BC8E8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BC8E8"/>
                </a:solidFill>
              </a:defRPr>
            </a:pPr>
            <a:r>
              <a:rPr sz="1200" b="1">
                <a:solidFill>
                  <a:srgbClr val="2BC8E8"/>
                </a:solidFill>
              </a:rPr>
              <a:t>06  /  PAIRED COMPARISON: EHR + BP VS EHR + BP + SLEEP/HRV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0840F61-8741-44A9-A195-7D094A9A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5F7FB"/>
                </a:solidFill>
              </a:defRPr>
            </a:defPPr>
            <a:lvl1pPr>
              <a:defRPr sz="2550" b="1">
                <a:solidFill>
                  <a:srgbClr val="F5F7FB"/>
                </a:solidFill>
              </a:defRPr>
            </a:lvl1pPr>
            <a:lvl2pPr>
              <a:defRPr sz="2550" b="1">
                <a:solidFill>
                  <a:srgbClr val="F5F7FB"/>
                </a:solidFill>
              </a:defRPr>
            </a:lvl2pPr>
            <a:lvl3pPr>
              <a:defRPr sz="2550" b="1">
                <a:solidFill>
                  <a:srgbClr val="F5F7FB"/>
                </a:solidFill>
              </a:defRPr>
            </a:lvl3pPr>
            <a:lvl4pPr>
              <a:defRPr sz="2550" b="1">
                <a:solidFill>
                  <a:srgbClr val="F5F7FB"/>
                </a:solidFill>
              </a:defRPr>
            </a:lvl4pPr>
            <a:lvl5pPr>
              <a:defRPr sz="2550" b="1">
                <a:solidFill>
                  <a:srgbClr val="F5F7FB"/>
                </a:solidFill>
              </a:defRPr>
            </a:lvl5pPr>
            <a:lvl6pPr>
              <a:defRPr sz="2550" b="1">
                <a:solidFill>
                  <a:srgbClr val="F5F7FB"/>
                </a:solidFill>
              </a:defRPr>
            </a:lvl6pPr>
            <a:lvl7pPr>
              <a:defRPr sz="2550" b="1">
                <a:solidFill>
                  <a:srgbClr val="F5F7FB"/>
                </a:solidFill>
              </a:defRPr>
            </a:lvl7pPr>
            <a:lvl8pPr>
              <a:defRPr sz="2550" b="1">
                <a:solidFill>
                  <a:srgbClr val="F5F7FB"/>
                </a:solidFill>
              </a:defRPr>
            </a:lvl8pPr>
            <a:lvl9pPr>
              <a:defRPr sz="2550" b="1">
                <a:solidFill>
                  <a:srgbClr val="F5F7FB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7FB"/>
                </a:solidFill>
              </a:defRPr>
            </a:pPr>
            <a:r>
              <a:rPr sz="2550" b="1">
                <a:solidFill>
                  <a:srgbClr val="F5F7FB"/>
                </a:solidFill>
              </a:rPr>
              <a:t>Wearable value under sparse cuff readings</a:t>
            </a:r>
          </a:p>
        </p:txBody>
      </p:sp>
      <p:sp>
        <p:nvSpPr>
          <p:cNvPr id="3" name="Safety footer">
            <a:extLst xmlns:a="http://schemas.openxmlformats.org/drawingml/2006/main">
              <a:ext uri="{FF2B5EF4-FFF2-40B4-BE49-F238E27FC236}">
                <a16:creationId xmlns:a16="http://schemas.microsoft.com/office/drawing/2014/main" id="{D820B133-45D9-42F6-8726-74E5F284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8BDD7"/>
                </a:solidFill>
              </a:defRPr>
            </a:defPPr>
            <a:lvl1pPr>
              <a:defRPr sz="900" b="0">
                <a:solidFill>
                  <a:srgbClr val="A8BDD7"/>
                </a:solidFill>
              </a:defRPr>
            </a:lvl1pPr>
            <a:lvl2pPr>
              <a:defRPr sz="900" b="0">
                <a:solidFill>
                  <a:srgbClr val="A8BDD7"/>
                </a:solidFill>
              </a:defRPr>
            </a:lvl2pPr>
            <a:lvl3pPr>
              <a:defRPr sz="900" b="0">
                <a:solidFill>
                  <a:srgbClr val="A8BDD7"/>
                </a:solidFill>
              </a:defRPr>
            </a:lvl3pPr>
            <a:lvl4pPr>
              <a:defRPr sz="900" b="0">
                <a:solidFill>
                  <a:srgbClr val="A8BDD7"/>
                </a:solidFill>
              </a:defRPr>
            </a:lvl4pPr>
            <a:lvl5pPr>
              <a:defRPr sz="900" b="0">
                <a:solidFill>
                  <a:srgbClr val="A8BDD7"/>
                </a:solidFill>
              </a:defRPr>
            </a:lvl5pPr>
            <a:lvl6pPr>
              <a:defRPr sz="900" b="0">
                <a:solidFill>
                  <a:srgbClr val="A8BDD7"/>
                </a:solidFill>
              </a:defRPr>
            </a:lvl6pPr>
            <a:lvl7pPr>
              <a:defRPr sz="900" b="0">
                <a:solidFill>
                  <a:srgbClr val="A8BDD7"/>
                </a:solidFill>
              </a:defRPr>
            </a:lvl7pPr>
            <a:lvl8pPr>
              <a:defRPr sz="900" b="0">
                <a:solidFill>
                  <a:srgbClr val="A8BDD7"/>
                </a:solidFill>
              </a:defRPr>
            </a:lvl8pPr>
            <a:lvl9pPr>
              <a:defRPr sz="900" b="0">
                <a:solidFill>
                  <a:srgbClr val="A8BDD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A8BDD7"/>
                </a:solidFill>
              </a:defRPr>
            </a:pPr>
            <a:r>
              <a:rPr sz="900" b="0">
                <a:solidFill>
                  <a:srgbClr val="A8BDD7"/>
                </a:solidFill>
              </a:rPr>
              <a:t>NIGHTWATCH  |  SYNTHETIC DATA ONLY  |  NOT A MEDICAL DEVICE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2897E-DAF8-4F58-B249-07910BF74321}"/>
              </a:ext>
            </a:extLst>
          </p:cNvPr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11144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1762125"/>
                <a:gridCol w="809625"/>
                <a:gridCol w="1381125"/>
                <a:gridCol w="2333625"/>
                <a:gridCol w="1143000"/>
                <a:gridCol w="2333625"/>
              </a:tblGrid>
              <a:tr h="7858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BC8E8"/>
                          </a:solidFill>
                        </a:rPr>
                        <a:t>BP availability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4445D"/>
                      </a:solidFill>
                      <a:prstDash val="solid"/>
                    </a:lnL>
                    <a:lnR w="9525">
                      <a:solidFill>
                        <a:srgbClr val="34445D"/>
                      </a:solidFill>
                      <a:prstDash val="solid"/>
                    </a:lnR>
                    <a:lnT w="9525">
                      <a:solidFill>
                        <a:srgbClr val="34445D"/>
                      </a:solidFill>
                      <a:prstDash val="solid"/>
                    </a:lnT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19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BC8E8"/>
                          </a:solidFill>
                        </a:rPr>
                        <a:t>Fold-mean dAUC +/- SD (n=5)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T w="9525">
                      <a:solidFill>
                        <a:srgbClr val="34445D"/>
                      </a:solidFill>
                      <a:prstDash val="solid"/>
                    </a:lnT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19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BC8E8"/>
                          </a:solidFill>
                        </a:rPr>
                        <a:t>Wins / 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T w="9525">
                      <a:solidFill>
                        <a:srgbClr val="34445D"/>
                      </a:solidFill>
                      <a:prstDash val="solid"/>
                    </a:lnT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19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BC8E8"/>
                          </a:solidFill>
                        </a:rPr>
                        <a:t>Pooled OOF dAUC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T w="9525">
                      <a:solidFill>
                        <a:srgbClr val="34445D"/>
                      </a:solidFill>
                      <a:prstDash val="solid"/>
                    </a:lnT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19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BC8E8"/>
                          </a:solidFill>
                        </a:rPr>
                        <a:t>Pooled bootstrap mean [95% CI]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T w="9525">
                      <a:solidFill>
                        <a:srgbClr val="34445D"/>
                      </a:solidFill>
                      <a:prstDash val="solid"/>
                    </a:lnT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19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BC8E8"/>
                          </a:solidFill>
                        </a:rPr>
                        <a:t>Fold t-test 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T w="9525">
                      <a:solidFill>
                        <a:srgbClr val="34445D"/>
                      </a:solidFill>
                      <a:prstDash val="solid"/>
                    </a:lnT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19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BC8E8"/>
                          </a:solidFill>
                        </a:rPr>
                        <a:t>Conclusion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T w="9525">
                      <a:solidFill>
                        <a:srgbClr val="34445D"/>
                      </a:solidFill>
                      <a:prstDash val="solid"/>
                    </a:lnT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19304A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5F7FB"/>
                          </a:solidFill>
                        </a:rPr>
                        <a:t>Daily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4445D"/>
                      </a:solidFill>
                      <a:prstDash val="solid"/>
                    </a:lnL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5F7FB"/>
                          </a:solidFill>
                        </a:rPr>
                        <a:t>+0.0035 +/- 0.0093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5F7FB"/>
                          </a:solidFill>
                        </a:rPr>
                        <a:t>3/5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5F7FB"/>
                          </a:solidFill>
                        </a:rPr>
                        <a:t>+0.0040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5F7FB"/>
                          </a:solidFill>
                        </a:rPr>
                        <a:t>+0.0042 [-0.0093, +0.0166]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5F7FB"/>
                          </a:solidFill>
                        </a:rPr>
                        <a:t>0.4891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5F7FB"/>
                          </a:solidFill>
                        </a:rPr>
                        <a:t>not supported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5F7FB"/>
                          </a:solidFill>
                        </a:rPr>
                        <a:t>2–3 readings/week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4445D"/>
                      </a:solidFill>
                      <a:prstDash val="solid"/>
                    </a:lnL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5F7FB"/>
                          </a:solidFill>
                        </a:rPr>
                        <a:t>+0.0186 +/- 0.0222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5F7FB"/>
                          </a:solidFill>
                        </a:rPr>
                        <a:t>4/5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5F7FB"/>
                          </a:solidFill>
                        </a:rPr>
                        <a:t>+0.0360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5F7FB"/>
                          </a:solidFill>
                        </a:rPr>
                        <a:t>+0.0364 [+0.0165, +0.0579]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5F7FB"/>
                          </a:solidFill>
                        </a:rPr>
                        <a:t>0.1689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5F7FB"/>
                          </a:solidFill>
                        </a:rPr>
                        <a:t>suggestive (CI excludes 0 but fold evidence weak)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5F7FB"/>
                          </a:solidFill>
                        </a:rPr>
                        <a:t>1 reading/week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4445D"/>
                      </a:solidFill>
                      <a:prstDash val="solid"/>
                    </a:lnL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5F7FB"/>
                          </a:solidFill>
                        </a:rPr>
                        <a:t>+0.0474 +/- 0.0386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5F7FB"/>
                          </a:solidFill>
                        </a:rPr>
                        <a:t>4/5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5F7FB"/>
                          </a:solidFill>
                        </a:rPr>
                        <a:t>+0.0620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5F7FB"/>
                          </a:solidFill>
                        </a:rPr>
                        <a:t>+0.0619 [+0.0292, +0.0960]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5F7FB"/>
                          </a:solidFill>
                        </a:rPr>
                        <a:t>0.0702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5F7FB"/>
                          </a:solidFill>
                        </a:rPr>
                        <a:t>supported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4445D"/>
                      </a:solidFill>
                      <a:prstDash val="solid"/>
                    </a:lnR>
                    <a:lnB w="9525">
                      <a:solidFill>
                        <a:srgbClr val="34445D"/>
                      </a:solidFill>
                      <a:prstDash val="solid"/>
                    </a:lnB>
                    <a:solidFill>
                      <a:srgbClr val="0A1020"/>
                    </a:solidFill>
                  </a:tcPr>
                </a:tc>
              </a:tr>
            </a:tbl>
          </a:graphicData>
        </a:graphic>
      </p:graphicFrame>
      <p:sp>
        <p:nvSpPr>
          <p:cNvPr id="5" name="Conclusion rule">
            <a:extLst xmlns:a="http://schemas.openxmlformats.org/drawingml/2006/main">
              <a:ext uri="{FF2B5EF4-FFF2-40B4-BE49-F238E27FC236}">
                <a16:creationId xmlns:a16="http://schemas.microsoft.com/office/drawing/2014/main" id="{E1670586-FE68-4F59-93C0-D8000171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B84A"/>
                </a:solidFill>
              </a:defRPr>
            </a:defPPr>
            <a:lvl1pPr>
              <a:defRPr sz="1350" b="0">
                <a:solidFill>
                  <a:srgbClr val="FFB84A"/>
                </a:solidFill>
              </a:defRPr>
            </a:lvl1pPr>
            <a:lvl2pPr>
              <a:defRPr sz="1350" b="0">
                <a:solidFill>
                  <a:srgbClr val="FFB84A"/>
                </a:solidFill>
              </a:defRPr>
            </a:lvl2pPr>
            <a:lvl3pPr>
              <a:defRPr sz="1350" b="0">
                <a:solidFill>
                  <a:srgbClr val="FFB84A"/>
                </a:solidFill>
              </a:defRPr>
            </a:lvl3pPr>
            <a:lvl4pPr>
              <a:defRPr sz="1350" b="0">
                <a:solidFill>
                  <a:srgbClr val="FFB84A"/>
                </a:solidFill>
              </a:defRPr>
            </a:lvl4pPr>
            <a:lvl5pPr>
              <a:defRPr sz="1350" b="0">
                <a:solidFill>
                  <a:srgbClr val="FFB84A"/>
                </a:solidFill>
              </a:defRPr>
            </a:lvl5pPr>
            <a:lvl6pPr>
              <a:defRPr sz="1350" b="0">
                <a:solidFill>
                  <a:srgbClr val="FFB84A"/>
                </a:solidFill>
              </a:defRPr>
            </a:lvl6pPr>
            <a:lvl7pPr>
              <a:defRPr sz="1350" b="0">
                <a:solidFill>
                  <a:srgbClr val="FFB84A"/>
                </a:solidFill>
              </a:defRPr>
            </a:lvl7pPr>
            <a:lvl8pPr>
              <a:defRPr sz="1350" b="0">
                <a:solidFill>
                  <a:srgbClr val="FFB84A"/>
                </a:solidFill>
              </a:defRPr>
            </a:lvl8pPr>
            <a:lvl9pPr>
              <a:defRPr sz="1350" b="0">
                <a:solidFill>
                  <a:srgbClr val="FFB84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B84A"/>
                </a:solidFill>
              </a:defRPr>
            </a:pPr>
            <a:r>
              <a:rPr sz="1350" b="0">
                <a:solidFill>
                  <a:srgbClr val="FFB84A"/>
                </a:solidFill>
              </a:rPr>
              <a:t>Wearable gain is supported only when wins are &gt;=4/5, the pooled patient-cluster CI excludes zero, and the fold t-test p-value is &lt;0.10. Otherwise the evidence is suggestive or not supported.</a:t>
            </a:r>
          </a:p>
        </p:txBody>
      </p:sp>
    </p:spTree>
    <p:extLst>
      <p:ext uri="{BB962C8B-B14F-4D97-AF65-F5344CB8AC3E}">
        <p14:creationId xmlns:p14="http://schemas.microsoft.com/office/powerpoint/2010/main" val="10432782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439E2ED7-ADEF-4F94-A4C8-575C52CB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BC8E8"/>
                </a:solidFill>
              </a:defRPr>
            </a:defPPr>
            <a:lvl1pPr>
              <a:defRPr sz="1200" b="1">
                <a:solidFill>
                  <a:srgbClr val="2BC8E8"/>
                </a:solidFill>
              </a:defRPr>
            </a:lvl1pPr>
            <a:lvl2pPr>
              <a:defRPr sz="1200" b="1">
                <a:solidFill>
                  <a:srgbClr val="2BC8E8"/>
                </a:solidFill>
              </a:defRPr>
            </a:lvl2pPr>
            <a:lvl3pPr>
              <a:defRPr sz="1200" b="1">
                <a:solidFill>
                  <a:srgbClr val="2BC8E8"/>
                </a:solidFill>
              </a:defRPr>
            </a:lvl3pPr>
            <a:lvl4pPr>
              <a:defRPr sz="1200" b="1">
                <a:solidFill>
                  <a:srgbClr val="2BC8E8"/>
                </a:solidFill>
              </a:defRPr>
            </a:lvl4pPr>
            <a:lvl5pPr>
              <a:defRPr sz="1200" b="1">
                <a:solidFill>
                  <a:srgbClr val="2BC8E8"/>
                </a:solidFill>
              </a:defRPr>
            </a:lvl5pPr>
            <a:lvl6pPr>
              <a:defRPr sz="1200" b="1">
                <a:solidFill>
                  <a:srgbClr val="2BC8E8"/>
                </a:solidFill>
              </a:defRPr>
            </a:lvl6pPr>
            <a:lvl7pPr>
              <a:defRPr sz="1200" b="1">
                <a:solidFill>
                  <a:srgbClr val="2BC8E8"/>
                </a:solidFill>
              </a:defRPr>
            </a:lvl7pPr>
            <a:lvl8pPr>
              <a:defRPr sz="1200" b="1">
                <a:solidFill>
                  <a:srgbClr val="2BC8E8"/>
                </a:solidFill>
              </a:defRPr>
            </a:lvl8pPr>
            <a:lvl9pPr>
              <a:defRPr sz="1200" b="1">
                <a:solidFill>
                  <a:srgbClr val="2BC8E8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BC8E8"/>
                </a:solidFill>
              </a:defRPr>
            </a:pPr>
            <a:r>
              <a:rPr sz="1200" b="1">
                <a:solidFill>
                  <a:srgbClr val="2BC8E8"/>
                </a:solidFill>
              </a:rPr>
              <a:t>07  /  RESPONSIBLE USE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5C9072A-D6F4-4185-8126-D76574F8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5F7FB"/>
                </a:solidFill>
              </a:defRPr>
            </a:defPPr>
            <a:lvl1pPr>
              <a:defRPr sz="2550" b="1">
                <a:solidFill>
                  <a:srgbClr val="F5F7FB"/>
                </a:solidFill>
              </a:defRPr>
            </a:lvl1pPr>
            <a:lvl2pPr>
              <a:defRPr sz="2550" b="1">
                <a:solidFill>
                  <a:srgbClr val="F5F7FB"/>
                </a:solidFill>
              </a:defRPr>
            </a:lvl2pPr>
            <a:lvl3pPr>
              <a:defRPr sz="2550" b="1">
                <a:solidFill>
                  <a:srgbClr val="F5F7FB"/>
                </a:solidFill>
              </a:defRPr>
            </a:lvl3pPr>
            <a:lvl4pPr>
              <a:defRPr sz="2550" b="1">
                <a:solidFill>
                  <a:srgbClr val="F5F7FB"/>
                </a:solidFill>
              </a:defRPr>
            </a:lvl4pPr>
            <a:lvl5pPr>
              <a:defRPr sz="2550" b="1">
                <a:solidFill>
                  <a:srgbClr val="F5F7FB"/>
                </a:solidFill>
              </a:defRPr>
            </a:lvl5pPr>
            <a:lvl6pPr>
              <a:defRPr sz="2550" b="1">
                <a:solidFill>
                  <a:srgbClr val="F5F7FB"/>
                </a:solidFill>
              </a:defRPr>
            </a:lvl6pPr>
            <a:lvl7pPr>
              <a:defRPr sz="2550" b="1">
                <a:solidFill>
                  <a:srgbClr val="F5F7FB"/>
                </a:solidFill>
              </a:defRPr>
            </a:lvl7pPr>
            <a:lvl8pPr>
              <a:defRPr sz="2550" b="1">
                <a:solidFill>
                  <a:srgbClr val="F5F7FB"/>
                </a:solidFill>
              </a:defRPr>
            </a:lvl8pPr>
            <a:lvl9pPr>
              <a:defRPr sz="2550" b="1">
                <a:solidFill>
                  <a:srgbClr val="F5F7FB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7FB"/>
                </a:solidFill>
              </a:defRPr>
            </a:pPr>
            <a:r>
              <a:rPr sz="2550" b="1">
                <a:solidFill>
                  <a:srgbClr val="F5F7FB"/>
                </a:solidFill>
              </a:rPr>
              <a:t>Interpretation and limits</a:t>
            </a:r>
          </a:p>
        </p:txBody>
      </p:sp>
      <p:sp>
        <p:nvSpPr>
          <p:cNvPr id="3" name="Safety footer">
            <a:extLst xmlns:a="http://schemas.openxmlformats.org/drawingml/2006/main">
              <a:ext uri="{FF2B5EF4-FFF2-40B4-BE49-F238E27FC236}">
                <a16:creationId xmlns:a16="http://schemas.microsoft.com/office/drawing/2014/main" id="{E5F86199-7AEE-45EF-B9FF-7D0E5269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8BDD7"/>
                </a:solidFill>
              </a:defRPr>
            </a:defPPr>
            <a:lvl1pPr>
              <a:defRPr sz="900" b="0">
                <a:solidFill>
                  <a:srgbClr val="A8BDD7"/>
                </a:solidFill>
              </a:defRPr>
            </a:lvl1pPr>
            <a:lvl2pPr>
              <a:defRPr sz="900" b="0">
                <a:solidFill>
                  <a:srgbClr val="A8BDD7"/>
                </a:solidFill>
              </a:defRPr>
            </a:lvl2pPr>
            <a:lvl3pPr>
              <a:defRPr sz="900" b="0">
                <a:solidFill>
                  <a:srgbClr val="A8BDD7"/>
                </a:solidFill>
              </a:defRPr>
            </a:lvl3pPr>
            <a:lvl4pPr>
              <a:defRPr sz="900" b="0">
                <a:solidFill>
                  <a:srgbClr val="A8BDD7"/>
                </a:solidFill>
              </a:defRPr>
            </a:lvl4pPr>
            <a:lvl5pPr>
              <a:defRPr sz="900" b="0">
                <a:solidFill>
                  <a:srgbClr val="A8BDD7"/>
                </a:solidFill>
              </a:defRPr>
            </a:lvl5pPr>
            <a:lvl6pPr>
              <a:defRPr sz="900" b="0">
                <a:solidFill>
                  <a:srgbClr val="A8BDD7"/>
                </a:solidFill>
              </a:defRPr>
            </a:lvl6pPr>
            <a:lvl7pPr>
              <a:defRPr sz="900" b="0">
                <a:solidFill>
                  <a:srgbClr val="A8BDD7"/>
                </a:solidFill>
              </a:defRPr>
            </a:lvl7pPr>
            <a:lvl8pPr>
              <a:defRPr sz="900" b="0">
                <a:solidFill>
                  <a:srgbClr val="A8BDD7"/>
                </a:solidFill>
              </a:defRPr>
            </a:lvl8pPr>
            <a:lvl9pPr>
              <a:defRPr sz="900" b="0">
                <a:solidFill>
                  <a:srgbClr val="A8BDD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A8BDD7"/>
                </a:solidFill>
              </a:defRPr>
            </a:pPr>
            <a:r>
              <a:rPr sz="900" b="0">
                <a:solidFill>
                  <a:srgbClr val="A8BDD7"/>
                </a:solidFill>
              </a:rPr>
              <a:t>NIGHTWATCH  |  SYNTHETIC DATA ONLY  |  NOT A MEDICAL DEVICE</a:t>
            </a:r>
          </a:p>
        </p:txBody>
      </p:sp>
      <p:sp>
        <p:nvSpPr>
          <p:cNvPr id="4" name="Safety">
            <a:extLst xmlns:a="http://schemas.openxmlformats.org/drawingml/2006/main">
              <a:ext uri="{FF2B5EF4-FFF2-40B4-BE49-F238E27FC236}">
                <a16:creationId xmlns:a16="http://schemas.microsoft.com/office/drawing/2014/main" id="{D1B7B0A6-98D8-4359-B000-210A321E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BC8E8"/>
                </a:solidFill>
              </a:defRPr>
            </a:defPPr>
            <a:lvl1pPr>
              <a:defRPr sz="2025" b="1">
                <a:solidFill>
                  <a:srgbClr val="2BC8E8"/>
                </a:solidFill>
              </a:defRPr>
            </a:lvl1pPr>
            <a:lvl2pPr>
              <a:defRPr sz="2025" b="1">
                <a:solidFill>
                  <a:srgbClr val="2BC8E8"/>
                </a:solidFill>
              </a:defRPr>
            </a:lvl2pPr>
            <a:lvl3pPr>
              <a:defRPr sz="2025" b="1">
                <a:solidFill>
                  <a:srgbClr val="2BC8E8"/>
                </a:solidFill>
              </a:defRPr>
            </a:lvl3pPr>
            <a:lvl4pPr>
              <a:defRPr sz="2025" b="1">
                <a:solidFill>
                  <a:srgbClr val="2BC8E8"/>
                </a:solidFill>
              </a:defRPr>
            </a:lvl4pPr>
            <a:lvl5pPr>
              <a:defRPr sz="2025" b="1">
                <a:solidFill>
                  <a:srgbClr val="2BC8E8"/>
                </a:solidFill>
              </a:defRPr>
            </a:lvl5pPr>
            <a:lvl6pPr>
              <a:defRPr sz="2025" b="1">
                <a:solidFill>
                  <a:srgbClr val="2BC8E8"/>
                </a:solidFill>
              </a:defRPr>
            </a:lvl6pPr>
            <a:lvl7pPr>
              <a:defRPr sz="2025" b="1">
                <a:solidFill>
                  <a:srgbClr val="2BC8E8"/>
                </a:solidFill>
              </a:defRPr>
            </a:lvl7pPr>
            <a:lvl8pPr>
              <a:defRPr sz="2025" b="1">
                <a:solidFill>
                  <a:srgbClr val="2BC8E8"/>
                </a:solidFill>
              </a:defRPr>
            </a:lvl8pPr>
            <a:lvl9pPr>
              <a:defRPr sz="2025" b="1">
                <a:solidFill>
                  <a:srgbClr val="2BC8E8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BC8E8"/>
                </a:solidFill>
              </a:defRPr>
            </a:pPr>
            <a:r>
              <a:rPr sz="2025" b="1">
                <a:solidFill>
                  <a:srgbClr val="2BC8E8"/>
                </a:solidFill>
              </a:rPr>
              <a:t>NightWatch is a synthetic research prototype for decision support, not a diagnostic tool or medical device.</a:t>
            </a:r>
          </a:p>
        </p:txBody>
      </p:sp>
      <p:sp>
        <p:nvSpPr>
          <p:cNvPr id="5" name="Limitations">
            <a:extLst xmlns:a="http://schemas.openxmlformats.org/drawingml/2006/main">
              <a:ext uri="{FF2B5EF4-FFF2-40B4-BE49-F238E27FC236}">
                <a16:creationId xmlns:a16="http://schemas.microsoft.com/office/drawing/2014/main" id="{8FEF5336-BD92-4549-970B-AC1760D3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5F7FB"/>
                </a:solidFill>
              </a:defRPr>
            </a:defPPr>
            <a:lvl1pPr>
              <a:defRPr sz="1725" b="0">
                <a:solidFill>
                  <a:srgbClr val="F5F7FB"/>
                </a:solidFill>
              </a:defRPr>
            </a:lvl1pPr>
            <a:lvl2pPr>
              <a:defRPr sz="1725" b="0">
                <a:solidFill>
                  <a:srgbClr val="F5F7FB"/>
                </a:solidFill>
              </a:defRPr>
            </a:lvl2pPr>
            <a:lvl3pPr>
              <a:defRPr sz="1725" b="0">
                <a:solidFill>
                  <a:srgbClr val="F5F7FB"/>
                </a:solidFill>
              </a:defRPr>
            </a:lvl3pPr>
            <a:lvl4pPr>
              <a:defRPr sz="1725" b="0">
                <a:solidFill>
                  <a:srgbClr val="F5F7FB"/>
                </a:solidFill>
              </a:defRPr>
            </a:lvl4pPr>
            <a:lvl5pPr>
              <a:defRPr sz="1725" b="0">
                <a:solidFill>
                  <a:srgbClr val="F5F7FB"/>
                </a:solidFill>
              </a:defRPr>
            </a:lvl5pPr>
            <a:lvl6pPr>
              <a:defRPr sz="1725" b="0">
                <a:solidFill>
                  <a:srgbClr val="F5F7FB"/>
                </a:solidFill>
              </a:defRPr>
            </a:lvl6pPr>
            <a:lvl7pPr>
              <a:defRPr sz="1725" b="0">
                <a:solidFill>
                  <a:srgbClr val="F5F7FB"/>
                </a:solidFill>
              </a:defRPr>
            </a:lvl7pPr>
            <a:lvl8pPr>
              <a:defRPr sz="1725" b="0">
                <a:solidFill>
                  <a:srgbClr val="F5F7FB"/>
                </a:solidFill>
              </a:defRPr>
            </a:lvl8pPr>
            <a:lvl9pPr>
              <a:defRPr sz="1725" b="0">
                <a:solidFill>
                  <a:srgbClr val="F5F7FB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5F7FB"/>
                </a:solidFill>
              </a:defRPr>
            </a:pPr>
            <a:r>
              <a:rPr sz="1725" b="0">
                <a:solidFill>
                  <a:srgbClr val="F5F7FB"/>
                </a:solidFill>
              </a:rPr>
              <a:t>The labels are partly circular and generated from simulator assumptions. The evaluation has no external or clinical validation. What-If results are modeled associations in synthetic data, not treatment effects. No real wearable integration, CGM, or genetic markers are included.</a:t>
            </a:r>
          </a:p>
        </p:txBody>
      </p:sp>
      <p:sp>
        <p:nvSpPr>
          <p:cNvPr id="6" name="Closing point">
            <a:extLst xmlns:a="http://schemas.openxmlformats.org/drawingml/2006/main">
              <a:ext uri="{FF2B5EF4-FFF2-40B4-BE49-F238E27FC236}">
                <a16:creationId xmlns:a16="http://schemas.microsoft.com/office/drawing/2014/main" id="{9F805CA0-29B7-4740-9CC1-FEE13EF8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B84A"/>
                </a:solidFill>
              </a:defRPr>
            </a:defPPr>
            <a:lvl1pPr>
              <a:defRPr sz="1500" b="1">
                <a:solidFill>
                  <a:srgbClr val="FFB84A"/>
                </a:solidFill>
              </a:defRPr>
            </a:lvl1pPr>
            <a:lvl2pPr>
              <a:defRPr sz="1500" b="1">
                <a:solidFill>
                  <a:srgbClr val="FFB84A"/>
                </a:solidFill>
              </a:defRPr>
            </a:lvl2pPr>
            <a:lvl3pPr>
              <a:defRPr sz="1500" b="1">
                <a:solidFill>
                  <a:srgbClr val="FFB84A"/>
                </a:solidFill>
              </a:defRPr>
            </a:lvl3pPr>
            <a:lvl4pPr>
              <a:defRPr sz="1500" b="1">
                <a:solidFill>
                  <a:srgbClr val="FFB84A"/>
                </a:solidFill>
              </a:defRPr>
            </a:lvl4pPr>
            <a:lvl5pPr>
              <a:defRPr sz="1500" b="1">
                <a:solidFill>
                  <a:srgbClr val="FFB84A"/>
                </a:solidFill>
              </a:defRPr>
            </a:lvl5pPr>
            <a:lvl6pPr>
              <a:defRPr sz="1500" b="1">
                <a:solidFill>
                  <a:srgbClr val="FFB84A"/>
                </a:solidFill>
              </a:defRPr>
            </a:lvl6pPr>
            <a:lvl7pPr>
              <a:defRPr sz="1500" b="1">
                <a:solidFill>
                  <a:srgbClr val="FFB84A"/>
                </a:solidFill>
              </a:defRPr>
            </a:lvl7pPr>
            <a:lvl8pPr>
              <a:defRPr sz="1500" b="1">
                <a:solidFill>
                  <a:srgbClr val="FFB84A"/>
                </a:solidFill>
              </a:defRPr>
            </a:lvl8pPr>
            <a:lvl9pPr>
              <a:defRPr sz="1500" b="1">
                <a:solidFill>
                  <a:srgbClr val="FFB84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B84A"/>
                </a:solidFill>
              </a:defRPr>
            </a:pPr>
            <a:r>
              <a:rPr sz="1500" b="1">
                <a:solidFill>
                  <a:srgbClr val="FFB84A"/>
                </a:solidFill>
              </a:rPr>
              <a:t>Use measured home cuff history as the source of BP truth; treat wearable signals as context only.</a:t>
            </a:r>
          </a:p>
        </p:txBody>
      </p:sp>
    </p:spTree>
    <p:extLst>
      <p:ext uri="{BB962C8B-B14F-4D97-AF65-F5344CB8AC3E}">
        <p14:creationId xmlns:p14="http://schemas.microsoft.com/office/powerpoint/2010/main" val="15234403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2026-10-20T11:49:52.2170000Z</dcterms:created>
  <dcterms:modified xsi:type="dcterms:W3CDTF">2026-10-20T11:49:52.2170000Z</dcterms:modified>
</coreProperties>
</file>